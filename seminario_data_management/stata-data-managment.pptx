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4888" r:id="rId1"/>
  </p:sldMasterIdLst>
  <p:sldIdLst>
    <p:sldId id="256" r:id="rId2"/>
    <p:sldId id="257" r:id="rId3"/>
    <p:sldId id="258" r:id="rId4"/>
    <p:sldId id="473" r:id="rId5"/>
    <p:sldId id="267" r:id="rId6"/>
    <p:sldId id="446" r:id="rId7"/>
    <p:sldId id="279" r:id="rId8"/>
    <p:sldId id="445" r:id="rId9"/>
    <p:sldId id="462" r:id="rId10"/>
    <p:sldId id="281" r:id="rId11"/>
    <p:sldId id="429" r:id="rId12"/>
    <p:sldId id="431" r:id="rId13"/>
    <p:sldId id="284" r:id="rId14"/>
    <p:sldId id="463" r:id="rId15"/>
    <p:sldId id="324" r:id="rId16"/>
    <p:sldId id="403" r:id="rId17"/>
    <p:sldId id="407" r:id="rId18"/>
    <p:sldId id="464" r:id="rId19"/>
    <p:sldId id="289" r:id="rId20"/>
    <p:sldId id="413" r:id="rId21"/>
    <p:sldId id="414" r:id="rId22"/>
    <p:sldId id="338" r:id="rId23"/>
    <p:sldId id="437" r:id="rId24"/>
    <p:sldId id="439" r:id="rId25"/>
    <p:sldId id="465" r:id="rId26"/>
    <p:sldId id="310" r:id="rId27"/>
    <p:sldId id="311" r:id="rId28"/>
    <p:sldId id="432" r:id="rId29"/>
    <p:sldId id="312" r:id="rId30"/>
    <p:sldId id="316" r:id="rId31"/>
    <p:sldId id="417" r:id="rId32"/>
    <p:sldId id="325" r:id="rId33"/>
    <p:sldId id="466" r:id="rId34"/>
    <p:sldId id="420" r:id="rId35"/>
    <p:sldId id="422" r:id="rId36"/>
    <p:sldId id="423" r:id="rId37"/>
    <p:sldId id="421" r:id="rId38"/>
    <p:sldId id="424" r:id="rId39"/>
    <p:sldId id="426" r:id="rId40"/>
    <p:sldId id="467" r:id="rId41"/>
    <p:sldId id="344" r:id="rId42"/>
    <p:sldId id="346" r:id="rId43"/>
    <p:sldId id="347" r:id="rId44"/>
    <p:sldId id="348" r:id="rId45"/>
    <p:sldId id="349" r:id="rId46"/>
    <p:sldId id="435" r:id="rId47"/>
    <p:sldId id="351" r:id="rId48"/>
    <p:sldId id="353" r:id="rId49"/>
    <p:sldId id="468" r:id="rId50"/>
    <p:sldId id="291" r:id="rId51"/>
    <p:sldId id="292" r:id="rId52"/>
    <p:sldId id="294" r:id="rId53"/>
    <p:sldId id="469" r:id="rId54"/>
    <p:sldId id="296" r:id="rId55"/>
    <p:sldId id="297" r:id="rId56"/>
    <p:sldId id="436" r:id="rId57"/>
    <p:sldId id="441" r:id="rId58"/>
    <p:sldId id="443" r:id="rId59"/>
    <p:sldId id="442" r:id="rId60"/>
    <p:sldId id="470" r:id="rId61"/>
    <p:sldId id="382" r:id="rId62"/>
    <p:sldId id="450" r:id="rId63"/>
    <p:sldId id="453" r:id="rId64"/>
    <p:sldId id="454" r:id="rId65"/>
    <p:sldId id="451" r:id="rId66"/>
    <p:sldId id="388" r:id="rId67"/>
    <p:sldId id="383" r:id="rId68"/>
    <p:sldId id="471" r:id="rId69"/>
    <p:sldId id="363" r:id="rId70"/>
    <p:sldId id="364" r:id="rId71"/>
    <p:sldId id="365" r:id="rId72"/>
    <p:sldId id="366" r:id="rId73"/>
    <p:sldId id="447" r:id="rId74"/>
    <p:sldId id="448" r:id="rId75"/>
    <p:sldId id="367" r:id="rId76"/>
    <p:sldId id="369" r:id="rId77"/>
    <p:sldId id="472" r:id="rId78"/>
    <p:sldId id="393" r:id="rId79"/>
    <p:sldId id="394" r:id="rId8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69A16"/>
    <a:srgbClr val="DFE3E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514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98" y="10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tableStyles" Target="tableStyle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t>2/22/2022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/>
          <p:cNvCxnSpPr>
            <a:cxnSpLocks/>
          </p:cNvCxnSpPr>
          <p:nvPr userDrawn="1"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20527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t>2/22/2022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1157071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47332"/>
            <a:ext cx="5605272" cy="4919472"/>
          </a:xfrm>
        </p:spPr>
        <p:txBody>
          <a:bodyPr anchor="b" anchorCtr="0">
            <a:normAutofit/>
          </a:bodyPr>
          <a:lstStyle>
            <a:lvl1pPr algn="r"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71232" y="749808"/>
            <a:ext cx="3584448" cy="4916996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000" cap="none" spc="200" baseline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lang="en-US" dirty="0"/>
          </a:p>
          <a:p>
            <a:pPr lvl="0"/>
            <a:endParaRPr lang="en-US" dirty="0"/>
          </a:p>
          <a:p>
            <a:pPr lvl="0"/>
            <a:endParaRPr lang="en-US" dirty="0"/>
          </a:p>
          <a:p>
            <a:pPr lvl="0"/>
            <a:endParaRPr lang="en-US" dirty="0"/>
          </a:p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t>2/22/2022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6C2DAAA-B4ED-4CE3-B0C5-14E89017CD74}"/>
              </a:ext>
            </a:extLst>
          </p:cNvPr>
          <p:cNvCxnSpPr>
            <a:cxnSpLocks/>
          </p:cNvCxnSpPr>
          <p:nvPr userDrawn="1"/>
        </p:nvCxnSpPr>
        <p:spPr>
          <a:xfrm>
            <a:off x="7150608" y="1094804"/>
            <a:ext cx="0" cy="4345876"/>
          </a:xfrm>
          <a:prstGeom prst="line">
            <a:avLst/>
          </a:prstGeom>
          <a:ln>
            <a:solidFill>
              <a:srgbClr val="DFE3E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716569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>
                <a:latin typeface="Courier New" panose="02070309020205020404" pitchFamily="49" charset="0"/>
                <a:cs typeface="Courier New" panose="02070309020205020404" pitchFamily="49" charset="0"/>
              </a:defRPr>
            </a:lvl1pPr>
            <a:lvl2pPr>
              <a:lnSpc>
                <a:spcPct val="100000"/>
              </a:lnSpc>
              <a:defRPr>
                <a:latin typeface="Courier New" panose="02070309020205020404" pitchFamily="49" charset="0"/>
                <a:cs typeface="Courier New" panose="02070309020205020404" pitchFamily="49" charset="0"/>
              </a:defRPr>
            </a:lvl2pPr>
            <a:lvl3pPr>
              <a:lnSpc>
                <a:spcPct val="100000"/>
              </a:lnSpc>
              <a:defRPr>
                <a:latin typeface="Courier New" panose="02070309020205020404" pitchFamily="49" charset="0"/>
                <a:cs typeface="Courier New" panose="02070309020205020404" pitchFamily="49" charset="0"/>
              </a:defRPr>
            </a:lvl3pPr>
            <a:lvl4pPr>
              <a:lnSpc>
                <a:spcPct val="100000"/>
              </a:lnSpc>
              <a:defRPr>
                <a:latin typeface="Courier New" panose="02070309020205020404" pitchFamily="49" charset="0"/>
                <a:cs typeface="Courier New" panose="02070309020205020404" pitchFamily="49" charset="0"/>
              </a:defRPr>
            </a:lvl4pPr>
            <a:lvl5pPr>
              <a:lnSpc>
                <a:spcPct val="100000"/>
              </a:lnSpc>
              <a:defRPr>
                <a:latin typeface="Courier New" panose="02070309020205020404" pitchFamily="49" charset="0"/>
                <a:cs typeface="Courier New" panose="02070309020205020404" pitchFamily="49" charset="0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t>2/22/2022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1833897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>
                    <a:lumMod val="9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>
                    <a:lumMod val="9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t>2/22/2022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4961338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37C31-9E7A-4F99-8774-A0E530DE1A42}" type="datetimeFigureOut">
              <a:rPr lang="en-US" smtClean="0"/>
              <a:t>2/22/2022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49833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8504F-A551-4DE0-9316-4DCD1D8CC752}" type="datetimeFigureOut">
              <a:rPr lang="en-US" smtClean="0"/>
              <a:t>2/22/2022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76043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4050791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1160EA64-D806-43AC-9DF2-F8C432F32B4C}" type="datetimeFigureOut">
              <a:rPr lang="en-US" smtClean="0"/>
              <a:t>2/22/2022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5511117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1">
              <a:lumMod val="50000"/>
              <a:lumOff val="5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160EA64-D806-43AC-9DF2-F8C432F32B4C}" type="datetimeFigureOut">
              <a:rPr lang="en-US" smtClean="0"/>
              <a:t>2/22/2022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0893014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t>2/22/2022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5735751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t>2/22/2022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3470360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1160EA64-D806-43AC-9DF2-F8C432F32B4C}" type="datetimeFigureOut">
              <a:rPr lang="en-US" smtClean="0"/>
              <a:t>2/22/2022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1369597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889" r:id="rId1"/>
    <p:sldLayoutId id="2147484890" r:id="rId2"/>
    <p:sldLayoutId id="2147484891" r:id="rId3"/>
    <p:sldLayoutId id="2147484892" r:id="rId4"/>
    <p:sldLayoutId id="2147484893" r:id="rId5"/>
    <p:sldLayoutId id="2147484894" r:id="rId6"/>
    <p:sldLayoutId id="2147484895" r:id="rId7"/>
    <p:sldLayoutId id="2147484896" r:id="rId8"/>
    <p:sldLayoutId id="2147484897" r:id="rId9"/>
    <p:sldLayoutId id="2147484898" r:id="rId10"/>
    <p:sldLayoutId id="2147484899" r:id="rId11"/>
  </p:sldLayoutIdLst>
  <p:hf sldNum="0"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3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tata.com/links/video-tutorials/" TargetMode="External"/><Relationship Id="rId2" Type="http://schemas.openxmlformats.org/officeDocument/2006/relationships/hyperlink" Target="https://www.youtube.com/user/statacorp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://stats.idre.ucla.edu/stata/" TargetMode="External"/><Relationship Id="rId4" Type="http://schemas.openxmlformats.org/officeDocument/2006/relationships/hyperlink" Target="http://www.stata.com/support/faqs/data-management/" TargetMode="Externa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0000"/>
            <a:shade val="97000"/>
            <a:satMod val="13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0">
            <a:extLst>
              <a:ext uri="{FF2B5EF4-FFF2-40B4-BE49-F238E27FC236}">
                <a16:creationId xmlns:a16="http://schemas.microsoft.com/office/drawing/2014/main" id="{8C6E698C-8155-4B8B-BDC9-B7299772B5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348952" y="643467"/>
            <a:ext cx="7172487" cy="5054008"/>
          </a:xfrm>
        </p:spPr>
        <p:txBody>
          <a:bodyPr anchor="ctr">
            <a:normAutofit/>
          </a:bodyPr>
          <a:lstStyle/>
          <a:p>
            <a:r>
              <a:rPr lang="en-US" sz="6600">
                <a:solidFill>
                  <a:schemeClr val="tx2"/>
                </a:solidFill>
              </a:rPr>
              <a:t>STATA data management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23299" y="643467"/>
            <a:ext cx="3311856" cy="5054008"/>
          </a:xfrm>
        </p:spPr>
        <p:txBody>
          <a:bodyPr anchor="ctr">
            <a:normAutofit/>
          </a:bodyPr>
          <a:lstStyle/>
          <a:p>
            <a:pPr algn="r"/>
            <a:r>
              <a:rPr lang="en-US">
                <a:solidFill>
                  <a:schemeClr val="tx1"/>
                </a:solidFill>
              </a:rPr>
              <a:t>UCLA oarc statistical methods and data analytics</a:t>
            </a:r>
          </a:p>
          <a:p>
            <a:pPr algn="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30" name="Straight Connector 22">
            <a:extLst>
              <a:ext uri="{FF2B5EF4-FFF2-40B4-BE49-F238E27FC236}">
                <a16:creationId xmlns:a16="http://schemas.microsoft.com/office/drawing/2014/main" id="{09525C9A-1972-4836-BA7A-706C946EF4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042053" y="1570271"/>
            <a:ext cx="0" cy="3200400"/>
          </a:xfrm>
          <a:prstGeom prst="line">
            <a:avLst/>
          </a:prstGeom>
          <a:ln w="31750">
            <a:solidFill>
              <a:schemeClr val="accent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24">
            <a:extLst>
              <a:ext uri="{FF2B5EF4-FFF2-40B4-BE49-F238E27FC236}">
                <a16:creationId xmlns:a16="http://schemas.microsoft.com/office/drawing/2014/main" id="{A05250E5-90D0-4E41-B9BD-FF661DE540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336792"/>
            <a:ext cx="12188825" cy="521208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09302238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Purpose of the workshop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Data sets usually do not arrive in a state immediately ready for analysis</a:t>
            </a:r>
          </a:p>
          <a:p>
            <a:pPr lvl="1"/>
            <a:r>
              <a:rPr lang="en-US" dirty="0"/>
              <a:t>Variables need to be cleaned</a:t>
            </a:r>
          </a:p>
          <a:p>
            <a:pPr lvl="2"/>
            <a:r>
              <a:rPr lang="en-US" dirty="0"/>
              <a:t>E.g. missing data codes like -99 can invalidate analyses if left untouched</a:t>
            </a:r>
          </a:p>
          <a:p>
            <a:pPr lvl="2"/>
            <a:r>
              <a:rPr lang="en-US" dirty="0"/>
              <a:t>Data errors should be corrected</a:t>
            </a:r>
          </a:p>
          <a:p>
            <a:pPr lvl="1"/>
            <a:r>
              <a:rPr lang="en-US" dirty="0"/>
              <a:t>Variables need to be generated</a:t>
            </a:r>
          </a:p>
          <a:p>
            <a:pPr lvl="1"/>
            <a:r>
              <a:rPr lang="en-US" dirty="0"/>
              <a:t>Unnecessary data should perhaps be dropped for efficiency</a:t>
            </a:r>
          </a:p>
          <a:p>
            <a:pPr lvl="1"/>
            <a:r>
              <a:rPr lang="en-US" dirty="0"/>
              <a:t>Data sets may need to be merged together</a:t>
            </a:r>
          </a:p>
          <a:p>
            <a:r>
              <a:rPr lang="en-US" dirty="0"/>
              <a:t>This workshop covers commonly used Stata commands to prepare data sets for statistical analysis</a:t>
            </a:r>
          </a:p>
          <a:p>
            <a:pPr lvl="1"/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76343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Inspecting variables</a:t>
            </a:r>
          </a:p>
          <a:p>
            <a:r>
              <a:rPr lang="en-US" dirty="0"/>
              <a:t>Creating variables</a:t>
            </a:r>
          </a:p>
          <a:p>
            <a:r>
              <a:rPr lang="en-US" dirty="0"/>
              <a:t>Selecting observations and variables</a:t>
            </a:r>
          </a:p>
          <a:p>
            <a:r>
              <a:rPr lang="en-US" dirty="0"/>
              <a:t>Missing data</a:t>
            </a:r>
          </a:p>
          <a:p>
            <a:r>
              <a:rPr lang="en-US" dirty="0"/>
              <a:t>Date variables</a:t>
            </a:r>
          </a:p>
          <a:p>
            <a:r>
              <a:rPr lang="en-US" dirty="0"/>
              <a:t>String variables</a:t>
            </a:r>
          </a:p>
          <a:p>
            <a:r>
              <a:rPr lang="en-US" dirty="0"/>
              <a:t>Appending data sets</a:t>
            </a:r>
          </a:p>
          <a:p>
            <a:r>
              <a:rPr lang="en-US" dirty="0"/>
              <a:t>Merging data sets</a:t>
            </a:r>
          </a:p>
          <a:p>
            <a:r>
              <a:rPr lang="en-US" dirty="0"/>
              <a:t>Looping</a:t>
            </a:r>
          </a:p>
          <a:p>
            <a:r>
              <a:rPr lang="en-US" dirty="0"/>
              <a:t>Processing data by groups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9BD094A-0B5E-4113-AB14-368F9AE7C4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Topics</a:t>
            </a:r>
          </a:p>
        </p:txBody>
      </p:sp>
    </p:spTree>
    <p:extLst>
      <p:ext uri="{BB962C8B-B14F-4D97-AF65-F5344CB8AC3E}">
        <p14:creationId xmlns:p14="http://schemas.microsoft.com/office/powerpoint/2010/main" val="25841962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069848" y="747332"/>
            <a:ext cx="5632704" cy="491947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6600" dirty="0"/>
              <a:t>Preliminaries</a:t>
            </a:r>
            <a:endParaRPr lang="en-US" sz="6600" dirty="0">
              <a:solidFill>
                <a:schemeClr val="tx2"/>
              </a:solidFill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0589F42-419C-40E1-B7B9-1B763E90E0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cap="none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cap="none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cap="none" dirty="0">
                <a:latin typeface="Courier New" panose="02070309020205020404" pitchFamily="49" charset="0"/>
                <a:cs typeface="Courier New" panose="02070309020205020404" pitchFamily="49" charset="0"/>
              </a:rPr>
              <a:t>save</a:t>
            </a:r>
          </a:p>
          <a:p>
            <a:r>
              <a:rPr lang="en-US" cap="none" dirty="0">
                <a:latin typeface="Courier New" panose="02070309020205020404" pitchFamily="49" charset="0"/>
                <a:cs typeface="Courier New" panose="02070309020205020404" pitchFamily="49" charset="0"/>
              </a:rPr>
              <a:t>load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96118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 do-files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Write and run code in do-files, text files where Stata commands can be saved.</a:t>
            </a:r>
          </a:p>
          <a:p>
            <a:pPr lvl="1"/>
            <a:r>
              <a:rPr lang="en-US" dirty="0"/>
              <a:t>A record of the commands used</a:t>
            </a:r>
          </a:p>
          <a:p>
            <a:pPr lvl="1"/>
            <a:r>
              <a:rPr lang="en-US" dirty="0"/>
              <a:t>Can easily make adjustments to code later</a:t>
            </a:r>
          </a:p>
          <a:p>
            <a:r>
              <a:rPr lang="en-US" dirty="0"/>
              <a:t>To run code from the do-file, highlight code and then Ctrl-D or click “Execute(do)” icon</a:t>
            </a:r>
          </a:p>
          <a:p>
            <a:r>
              <a:rPr lang="en-US" dirty="0"/>
              <a:t>Comments:  precede text with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*</a:t>
            </a:r>
            <a:r>
              <a:rPr lang="en-US" dirty="0"/>
              <a:t> or enclose text within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/*</a:t>
            </a:r>
            <a:r>
              <a:rPr lang="en-US" dirty="0"/>
              <a:t> and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*/</a:t>
            </a:r>
          </a:p>
          <a:p>
            <a:pPr lvl="1"/>
            <a:r>
              <a:rPr lang="en-US" dirty="0">
                <a:solidFill>
                  <a:srgbClr val="169A1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*not executed</a:t>
            </a:r>
          </a:p>
          <a:p>
            <a:pPr lvl="1"/>
            <a:r>
              <a:rPr lang="en-US" dirty="0">
                <a:solidFill>
                  <a:srgbClr val="169A1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/* this is a comment */</a:t>
            </a:r>
          </a:p>
          <a:p>
            <a:r>
              <a:rPr lang="en-US" dirty="0">
                <a:solidFill>
                  <a:schemeClr val="tx1"/>
                </a:solidFill>
                <a:cs typeface="Courier New" panose="02070309020205020404" pitchFamily="49" charset="0"/>
              </a:rPr>
              <a:t>You can also place comments on the same line as a command following 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tab x </a:t>
            </a:r>
            <a:r>
              <a:rPr lang="en-US" dirty="0">
                <a:solidFill>
                  <a:srgbClr val="169A1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also a comment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24194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5FC37F-3F54-47F1-B710-C214263DE0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Reading syntax specifications in this workshop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5276FD-C047-455F-8D71-BD1C08F565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Unitalicized words should be typed as is</a:t>
            </a:r>
          </a:p>
          <a:p>
            <a:r>
              <a:rPr lang="en-US" dirty="0"/>
              <a:t>Italicized words should be replaced with the appropriate variable, command, or value</a:t>
            </a:r>
          </a:p>
          <a:p>
            <a:r>
              <a:rPr lang="en-US" dirty="0"/>
              <a:t>For example: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merge 1:1 </a:t>
            </a:r>
            <a:r>
              <a:rPr lang="en-US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varlist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using </a:t>
            </a:r>
            <a:r>
              <a:rPr lang="en-US" i="1" dirty="0">
                <a:latin typeface="Courier New" panose="02070309020205020404" pitchFamily="49" charset="0"/>
                <a:cs typeface="Courier New" panose="02070309020205020404" pitchFamily="49" charset="0"/>
              </a:rPr>
              <a:t>filename</a:t>
            </a:r>
          </a:p>
          <a:p>
            <a:r>
              <a:rPr lang="en-US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varlist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cs typeface="Courier New" panose="02070309020205020404" pitchFamily="49" charset="0"/>
              </a:rPr>
              <a:t>should be replaced with one or more variable names</a:t>
            </a:r>
          </a:p>
          <a:p>
            <a:r>
              <a:rPr lang="en-US" i="1" dirty="0">
                <a:latin typeface="Courier New" panose="02070309020205020404" pitchFamily="49" charset="0"/>
                <a:cs typeface="Courier New" panose="02070309020205020404" pitchFamily="49" charset="0"/>
              </a:rPr>
              <a:t>filename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cs typeface="Courier New" panose="02070309020205020404" pitchFamily="49" charset="0"/>
              </a:rPr>
              <a:t>should be replaced with a file’s name</a:t>
            </a:r>
          </a:p>
          <a:p>
            <a:r>
              <a:rPr lang="en-US" dirty="0">
                <a:cs typeface="Courier New" panose="02070309020205020404" pitchFamily="49" charset="0"/>
              </a:rPr>
              <a:t>The rest should be typed as is</a:t>
            </a:r>
          </a:p>
          <a:p>
            <a:endParaRPr lang="en-US" i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varlist</a:t>
            </a:r>
            <a:r>
              <a:rPr lang="en-US" i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cs typeface="Courier New" panose="02070309020205020404" pitchFamily="49" charset="0"/>
              </a:rPr>
              <a:t>will be used throughout the workshop to mean one or more variable names</a:t>
            </a:r>
          </a:p>
        </p:txBody>
      </p:sp>
    </p:spTree>
    <p:extLst>
      <p:ext uri="{BB962C8B-B14F-4D97-AF65-F5344CB8AC3E}">
        <p14:creationId xmlns:p14="http://schemas.microsoft.com/office/powerpoint/2010/main" val="15936174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Workshop 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dataset contains fake hospital patient data, with patients as rows of data (no patient id, though)</a:t>
            </a:r>
          </a:p>
          <a:p>
            <a:r>
              <a:rPr lang="en-US" dirty="0"/>
              <a:t>A mix of continuous and discrete numeric variables as well as string variables</a:t>
            </a:r>
          </a:p>
          <a:p>
            <a:r>
              <a:rPr lang="en-US" dirty="0"/>
              <a:t>Some data errors and missing data codes in the data </a:t>
            </a:r>
          </a:p>
          <a:p>
            <a:r>
              <a:rPr lang="en-US" dirty="0"/>
              <a:t>Each patient is also linked to a doctor (</a:t>
            </a:r>
            <a:r>
              <a:rPr lang="en-US" dirty="0" err="1"/>
              <a:t>docid</a:t>
            </a:r>
            <a:r>
              <a:rPr lang="en-US" dirty="0"/>
              <a:t>). </a:t>
            </a:r>
          </a:p>
          <a:p>
            <a:r>
              <a:rPr lang="en-US" dirty="0"/>
              <a:t>Another dataset containing doctor variables will be merged into this dataset later in the seminar.</a:t>
            </a:r>
          </a:p>
        </p:txBody>
      </p:sp>
    </p:spTree>
    <p:extLst>
      <p:ext uri="{BB962C8B-B14F-4D97-AF65-F5344CB8AC3E}">
        <p14:creationId xmlns:p14="http://schemas.microsoft.com/office/powerpoint/2010/main" val="2543963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79C216-2F79-48A5-8CD8-BB5C813C08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save</a:t>
            </a:r>
            <a:r>
              <a:rPr lang="en-US" dirty="0"/>
              <a:t> and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use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6EB365-8EE4-4809-AA53-E80E0DAD3BE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We recommend that you save your data set under a different name after performing some data management on it</a:t>
            </a:r>
          </a:p>
          <a:p>
            <a:pPr lvl="1"/>
            <a:r>
              <a:rPr lang="en-US" dirty="0"/>
              <a:t>Always good to have untouched raw, data set</a:t>
            </a:r>
          </a:p>
          <a:p>
            <a:pPr lvl="1"/>
            <a:r>
              <a:rPr lang="en-US" dirty="0"/>
              <a:t>You may change your mind later about how variables should be generated/cleaned/</a:t>
            </a:r>
            <a:r>
              <a:rPr lang="en-US" dirty="0" err="1"/>
              <a:t>etc</a:t>
            </a:r>
            <a:endParaRPr lang="en-US" dirty="0"/>
          </a:p>
          <a:p>
            <a:pPr marL="201168" lvl="1" indent="0">
              <a:buNone/>
            </a:pPr>
            <a:endParaRPr lang="en-US" dirty="0"/>
          </a:p>
          <a:p>
            <a:pPr marL="201168" lvl="1" indent="0">
              <a:buNone/>
            </a:pPr>
            <a:r>
              <a:rPr lang="en-US" dirty="0"/>
              <a:t>To quickly </a:t>
            </a:r>
            <a:r>
              <a:rPr lang="en-US" dirty="0">
                <a:cs typeface="Courier New" panose="02070309020205020404" pitchFamily="49" charset="0"/>
              </a:rPr>
              <a:t>save</a:t>
            </a:r>
            <a:r>
              <a:rPr lang="en-US" dirty="0"/>
              <a:t> and </a:t>
            </a:r>
            <a:r>
              <a:rPr lang="en-US" dirty="0">
                <a:cs typeface="Courier New" panose="02070309020205020404" pitchFamily="49" charset="0"/>
              </a:rPr>
              <a:t>load</a:t>
            </a:r>
            <a:r>
              <a:rPr lang="en-US" dirty="0"/>
              <a:t> your data in Stata,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save</a:t>
            </a:r>
            <a:r>
              <a:rPr lang="en-US" dirty="0"/>
              <a:t> as a Stata file (usually .</a:t>
            </a:r>
            <a:r>
              <a:rPr lang="en-US" dirty="0" err="1"/>
              <a:t>dta</a:t>
            </a:r>
            <a:r>
              <a:rPr lang="en-US" dirty="0"/>
              <a:t>)</a:t>
            </a:r>
          </a:p>
          <a:p>
            <a:pPr marL="201168" lvl="1" indent="0">
              <a:buNone/>
            </a:pPr>
            <a:endParaRPr lang="en-US" dirty="0"/>
          </a:p>
          <a:p>
            <a:pPr marL="201168" lvl="1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use</a:t>
            </a:r>
            <a:r>
              <a:rPr lang="en-US" dirty="0"/>
              <a:t> loads Stata data files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AA7C13-95F3-461B-9FA7-329BE78814B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>
                <a:solidFill>
                  <a:srgbClr val="169A16"/>
                </a:solidFill>
              </a:rPr>
              <a:t>* save data as Stata data set, overwrite</a:t>
            </a:r>
          </a:p>
          <a:p>
            <a:r>
              <a:rPr lang="en-US" dirty="0"/>
              <a:t>save </a:t>
            </a:r>
            <a:r>
              <a:rPr lang="en-US" dirty="0" err="1"/>
              <a:t>data_clean.dta</a:t>
            </a:r>
            <a:r>
              <a:rPr lang="en-US" dirty="0"/>
              <a:t>, replace</a:t>
            </a:r>
          </a:p>
          <a:p>
            <a:endParaRPr lang="en-US" dirty="0"/>
          </a:p>
          <a:p>
            <a:r>
              <a:rPr lang="en-US" dirty="0">
                <a:solidFill>
                  <a:srgbClr val="169A16"/>
                </a:solidFill>
              </a:rPr>
              <a:t>* .</a:t>
            </a:r>
            <a:r>
              <a:rPr lang="en-US" dirty="0" err="1">
                <a:solidFill>
                  <a:srgbClr val="169A16"/>
                </a:solidFill>
              </a:rPr>
              <a:t>dta</a:t>
            </a:r>
            <a:r>
              <a:rPr lang="en-US" dirty="0">
                <a:solidFill>
                  <a:srgbClr val="169A16"/>
                </a:solidFill>
              </a:rPr>
              <a:t> automatically added so can omit it</a:t>
            </a:r>
          </a:p>
          <a:p>
            <a:r>
              <a:rPr lang="en-US" dirty="0"/>
              <a:t>save </a:t>
            </a:r>
            <a:r>
              <a:rPr lang="en-US" dirty="0" err="1"/>
              <a:t>data_clean</a:t>
            </a:r>
            <a:r>
              <a:rPr lang="en-US" dirty="0"/>
              <a:t>, replace</a:t>
            </a:r>
          </a:p>
          <a:p>
            <a:endParaRPr lang="en-US" dirty="0"/>
          </a:p>
          <a:p>
            <a:r>
              <a:rPr lang="en-US" dirty="0">
                <a:solidFill>
                  <a:srgbClr val="169A16"/>
                </a:solidFill>
              </a:rPr>
              <a:t>* load </a:t>
            </a:r>
            <a:r>
              <a:rPr lang="en-US" dirty="0" err="1">
                <a:solidFill>
                  <a:srgbClr val="169A16"/>
                </a:solidFill>
              </a:rPr>
              <a:t>data_clean</a:t>
            </a:r>
            <a:r>
              <a:rPr lang="en-US" dirty="0">
                <a:solidFill>
                  <a:srgbClr val="169A16"/>
                </a:solidFill>
              </a:rPr>
              <a:t>, clear memory first</a:t>
            </a:r>
          </a:p>
          <a:p>
            <a:r>
              <a:rPr lang="en-US" dirty="0"/>
              <a:t>use </a:t>
            </a:r>
            <a:r>
              <a:rPr lang="en-US" dirty="0" err="1"/>
              <a:t>data_clean</a:t>
            </a:r>
            <a:r>
              <a:rPr lang="en-US" dirty="0"/>
              <a:t>, clear</a:t>
            </a:r>
          </a:p>
        </p:txBody>
      </p:sp>
    </p:spTree>
    <p:extLst>
      <p:ext uri="{BB962C8B-B14F-4D97-AF65-F5344CB8AC3E}">
        <p14:creationId xmlns:p14="http://schemas.microsoft.com/office/powerpoint/2010/main" val="18705318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069848" y="747332"/>
            <a:ext cx="5632704" cy="491947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6600" dirty="0"/>
              <a:t>Inspecting variables</a:t>
            </a:r>
            <a:endParaRPr lang="en-US" sz="6600" dirty="0">
              <a:solidFill>
                <a:schemeClr val="tx2"/>
              </a:solidFill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0589F42-419C-40E1-B7B9-1B763E90E0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cap="none" dirty="0">
                <a:latin typeface="Courier New" panose="02070309020205020404" pitchFamily="49" charset="0"/>
                <a:cs typeface="Courier New" panose="02070309020205020404" pitchFamily="49" charset="0"/>
              </a:rPr>
              <a:t>browse</a:t>
            </a:r>
          </a:p>
          <a:p>
            <a:r>
              <a:rPr lang="en-US" cap="none" dirty="0">
                <a:latin typeface="Courier New" panose="02070309020205020404" pitchFamily="49" charset="0"/>
                <a:cs typeface="Courier New" panose="02070309020205020404" pitchFamily="49" charset="0"/>
              </a:rPr>
              <a:t>summarize</a:t>
            </a:r>
          </a:p>
          <a:p>
            <a:r>
              <a:rPr lang="en-US" cap="none" dirty="0">
                <a:latin typeface="Courier New" panose="02070309020205020404" pitchFamily="49" charset="0"/>
                <a:cs typeface="Courier New" panose="02070309020205020404" pitchFamily="49" charset="0"/>
              </a:rPr>
              <a:t>tabulate</a:t>
            </a:r>
          </a:p>
          <a:p>
            <a:r>
              <a:rPr lang="en-US" cap="none" dirty="0">
                <a:latin typeface="Courier New" panose="02070309020205020404" pitchFamily="49" charset="0"/>
                <a:cs typeface="Courier New" panose="02070309020205020404" pitchFamily="49" charset="0"/>
              </a:rPr>
              <a:t>codebook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18707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browse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Spreadsheet style window view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browse</a:t>
            </a:r>
          </a:p>
          <a:p>
            <a:pPr lvl="1"/>
            <a:r>
              <a:rPr lang="en-US" dirty="0"/>
              <a:t>or click on the spreadsheet and magnifying glass icon in the Stata toolbar</a:t>
            </a:r>
          </a:p>
          <a:p>
            <a:r>
              <a:rPr lang="en-US" dirty="0"/>
              <a:t>Numeric variables appear black</a:t>
            </a:r>
          </a:p>
          <a:p>
            <a:r>
              <a:rPr lang="en-US" dirty="0">
                <a:cs typeface="Courier New" panose="02070309020205020404" pitchFamily="49" charset="0"/>
              </a:rPr>
              <a:t>String variables appear red</a:t>
            </a:r>
          </a:p>
          <a:p>
            <a:r>
              <a:rPr lang="en-US" dirty="0">
                <a:cs typeface="Courier New" panose="02070309020205020404" pitchFamily="49" charset="0"/>
              </a:rPr>
              <a:t>Numeric variables with value labels appear blue</a:t>
            </a:r>
          </a:p>
          <a:p>
            <a:r>
              <a:rPr lang="en-US" dirty="0">
                <a:cs typeface="Courier New" panose="02070309020205020404" pitchFamily="49" charset="0"/>
              </a:rPr>
              <a:t>For large data sets, we need commands that allow us to quickly inspect variables</a:t>
            </a:r>
          </a:p>
        </p:txBody>
      </p:sp>
    </p:spTree>
    <p:extLst>
      <p:ext uri="{BB962C8B-B14F-4D97-AF65-F5344CB8AC3E}">
        <p14:creationId xmlns:p14="http://schemas.microsoft.com/office/powerpoint/2010/main" val="24147370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1F818FC-2FAE-4F67-93A9-23D53BA5D0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summarize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0A58637-8930-440A-B162-9ABEB554305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summarize</a:t>
            </a:r>
            <a:r>
              <a:rPr lang="en-US" dirty="0"/>
              <a:t> (abbreviated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summ</a:t>
            </a:r>
            <a:r>
              <a:rPr lang="en-US" dirty="0"/>
              <a:t>) provides summary statistics for numeric variables, which may be useful for data management:</a:t>
            </a:r>
          </a:p>
          <a:p>
            <a:pPr lvl="1"/>
            <a:r>
              <a:rPr lang="en-US" dirty="0"/>
              <a:t>Number of non-missing observations</a:t>
            </a:r>
          </a:p>
          <a:p>
            <a:pPr lvl="2"/>
            <a:r>
              <a:rPr lang="en-US" dirty="0"/>
              <a:t>Does this variable have the correct number of missing observations?</a:t>
            </a:r>
          </a:p>
          <a:p>
            <a:pPr lvl="1"/>
            <a:r>
              <a:rPr lang="en-US" dirty="0"/>
              <a:t>Mean and standard deviation</a:t>
            </a:r>
          </a:p>
          <a:p>
            <a:pPr lvl="2"/>
            <a:r>
              <a:rPr lang="en-US" dirty="0"/>
              <a:t>Are there any data errors or missing data codes that make the mean or standard deviation seem implausible?</a:t>
            </a:r>
          </a:p>
          <a:p>
            <a:pPr lvl="1"/>
            <a:r>
              <a:rPr lang="en-US" dirty="0"/>
              <a:t>Minimum and maximum </a:t>
            </a:r>
          </a:p>
          <a:p>
            <a:pPr lvl="2"/>
            <a:r>
              <a:rPr lang="en-US" dirty="0"/>
              <a:t>Are the min and max within the plausible range for this variable?</a:t>
            </a:r>
          </a:p>
          <a:p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2752FBD-3FAC-4366-9C17-0C5AF811A77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169A1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*summary stats for variable y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summ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y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169A1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*summary stats for all numeric variables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summ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14656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F6587D-29BA-4E5C-A2E7-3B2658A12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tabulate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269D50-44AE-4870-8C63-3762577FAE7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tabulate</a:t>
            </a:r>
            <a:r>
              <a:rPr lang="en-US" dirty="0"/>
              <a:t> (abbreviated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tab </a:t>
            </a:r>
            <a:r>
              <a:rPr lang="en-US" dirty="0">
                <a:cs typeface="Courier New" panose="02070309020205020404" pitchFamily="49" charset="0"/>
              </a:rPr>
              <a:t>here</a:t>
            </a:r>
            <a:r>
              <a:rPr lang="en-US" dirty="0"/>
              <a:t>) </a:t>
            </a:r>
          </a:p>
          <a:p>
            <a:pPr lvl="1"/>
            <a:r>
              <a:rPr lang="en-US" dirty="0"/>
              <a:t>frequency tables (# observations per value)</a:t>
            </a:r>
          </a:p>
          <a:p>
            <a:pPr lvl="1"/>
            <a:r>
              <a:rPr lang="en-US" dirty="0"/>
              <a:t>string or numeric variables ok</a:t>
            </a:r>
          </a:p>
          <a:p>
            <a:pPr lvl="2"/>
            <a:r>
              <a:rPr lang="en-US" dirty="0"/>
              <a:t>but not continuous numeric variables</a:t>
            </a:r>
          </a:p>
          <a:p>
            <a:r>
              <a:rPr lang="en-US" dirty="0"/>
              <a:t>Questions to ask with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tab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Is this the number of categories I expect?</a:t>
            </a:r>
          </a:p>
          <a:p>
            <a:pPr lvl="1"/>
            <a:r>
              <a:rPr lang="en-US" dirty="0"/>
              <a:t>Are the categories numbered and labeled as I expect?</a:t>
            </a:r>
          </a:p>
          <a:p>
            <a:pPr lvl="2"/>
            <a:r>
              <a:rPr lang="en-US" dirty="0"/>
              <a:t>Do these frequencies look right?</a:t>
            </a:r>
          </a:p>
          <a:p>
            <a:r>
              <a:rPr lang="en-US" dirty="0"/>
              <a:t>Important data management options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miss</a:t>
            </a:r>
            <a:r>
              <a:rPr lang="en-US" dirty="0"/>
              <a:t>  - treat missing values as another category</a:t>
            </a:r>
          </a:p>
          <a:p>
            <a:pPr lvl="1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nolabel</a:t>
            </a:r>
            <a:r>
              <a:rPr lang="en-US" dirty="0"/>
              <a:t> – remove labels to inspect underlying numeric representation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2D5E97-6E2A-4FDF-BC61-07E66DBF196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700" dirty="0">
                <a:solidFill>
                  <a:srgbClr val="169A1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*table of frequencies of race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700" dirty="0">
                <a:solidFill>
                  <a:srgbClr val="169A1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 display missing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tab race, miss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US" sz="1700" dirty="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700" dirty="0">
                <a:solidFill>
                  <a:srgbClr val="169A1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*2-way table of frequencies</a:t>
            </a:r>
          </a:p>
          <a:p>
            <a:r>
              <a:rPr lang="en-US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tab race gender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27453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cap="none" dirty="0">
                <a:latin typeface="Courier New" panose="02070309020205020404" pitchFamily="49" charset="0"/>
                <a:cs typeface="Courier New" panose="02070309020205020404" pitchFamily="49" charset="0"/>
              </a:rPr>
              <a:t>codebook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Detailed information about variables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codebook</a:t>
            </a:r>
            <a:r>
              <a:rPr lang="en-US" dirty="0"/>
              <a:t> provides:</a:t>
            </a:r>
          </a:p>
          <a:p>
            <a:pPr lvl="1"/>
            <a:r>
              <a:rPr lang="en-US" dirty="0"/>
              <a:t>For </a:t>
            </a:r>
            <a:r>
              <a:rPr lang="en-US" i="1" dirty="0"/>
              <a:t>all</a:t>
            </a:r>
            <a:r>
              <a:rPr lang="en-US" dirty="0"/>
              <a:t> variables</a:t>
            </a:r>
          </a:p>
          <a:p>
            <a:pPr lvl="2"/>
            <a:r>
              <a:rPr lang="en-US" dirty="0"/>
              <a:t>Number of unique values</a:t>
            </a:r>
          </a:p>
          <a:p>
            <a:pPr lvl="2"/>
            <a:r>
              <a:rPr lang="en-US" dirty="0"/>
              <a:t>Number of missing values</a:t>
            </a:r>
          </a:p>
          <a:p>
            <a:pPr lvl="2"/>
            <a:r>
              <a:rPr lang="en-US" dirty="0"/>
              <a:t>Value labels, if applied</a:t>
            </a:r>
          </a:p>
          <a:p>
            <a:pPr lvl="1"/>
            <a:r>
              <a:rPr lang="en-US" dirty="0"/>
              <a:t>For </a:t>
            </a:r>
            <a:r>
              <a:rPr lang="en-US" i="1" dirty="0"/>
              <a:t>numeric</a:t>
            </a:r>
            <a:r>
              <a:rPr lang="en-US" dirty="0"/>
              <a:t> variables</a:t>
            </a:r>
          </a:p>
          <a:p>
            <a:pPr lvl="2"/>
            <a:r>
              <a:rPr lang="en-US" dirty="0"/>
              <a:t>Range</a:t>
            </a:r>
          </a:p>
          <a:p>
            <a:pPr lvl="2"/>
            <a:r>
              <a:rPr lang="en-US" dirty="0"/>
              <a:t>quantiles, means and standard deviation for continuous variables</a:t>
            </a:r>
          </a:p>
          <a:p>
            <a:pPr lvl="2"/>
            <a:r>
              <a:rPr lang="en-US" dirty="0"/>
              <a:t>Frequencies for discrete variables </a:t>
            </a:r>
          </a:p>
          <a:p>
            <a:pPr lvl="1"/>
            <a:r>
              <a:rPr lang="en-US" dirty="0"/>
              <a:t>For </a:t>
            </a:r>
            <a:r>
              <a:rPr lang="en-US" i="1" dirty="0"/>
              <a:t>string</a:t>
            </a:r>
            <a:r>
              <a:rPr lang="en-US" dirty="0"/>
              <a:t> variables</a:t>
            </a:r>
          </a:p>
          <a:p>
            <a:pPr lvl="2"/>
            <a:r>
              <a:rPr lang="en-US" dirty="0"/>
              <a:t>frequencies</a:t>
            </a:r>
          </a:p>
          <a:p>
            <a:pPr lvl="2"/>
            <a:r>
              <a:rPr lang="en-US" dirty="0"/>
              <a:t>warnings about leading and trailing blanks</a:t>
            </a:r>
          </a:p>
          <a:p>
            <a:pPr lvl="2"/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2580A8-62AB-42C5-B0D8-E2C85F70B0A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r>
              <a:rPr lang="en-US" dirty="0">
                <a:solidFill>
                  <a:srgbClr val="169A1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*detailed info about variables x and y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codebook x y</a:t>
            </a: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solidFill>
                  <a:srgbClr val="169A1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*detailed info about all variables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codebook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12531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069848" y="747332"/>
            <a:ext cx="5632704" cy="491947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6600" dirty="0"/>
              <a:t>Creating variables</a:t>
            </a:r>
            <a:endParaRPr lang="en-US" sz="6600" dirty="0">
              <a:solidFill>
                <a:schemeClr val="tx2"/>
              </a:solidFill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0589F42-419C-40E1-B7B9-1B763E90E0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cap="none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cap="none" dirty="0">
                <a:latin typeface="Courier New" panose="02070309020205020404" pitchFamily="49" charset="0"/>
                <a:cs typeface="Courier New" panose="02070309020205020404" pitchFamily="49" charset="0"/>
              </a:rPr>
              <a:t>generate</a:t>
            </a:r>
          </a:p>
          <a:p>
            <a:r>
              <a:rPr lang="en-US" cap="none" dirty="0">
                <a:latin typeface="Courier New" panose="02070309020205020404" pitchFamily="49" charset="0"/>
                <a:cs typeface="Courier New" panose="02070309020205020404" pitchFamily="49" charset="0"/>
              </a:rPr>
              <a:t>help functions</a:t>
            </a:r>
          </a:p>
          <a:p>
            <a:r>
              <a:rPr lang="en-US" cap="none" dirty="0" err="1">
                <a:latin typeface="Courier New" panose="02070309020205020404" pitchFamily="49" charset="0"/>
                <a:cs typeface="Courier New" panose="02070309020205020404" pitchFamily="49" charset="0"/>
              </a:rPr>
              <a:t>egen</a:t>
            </a:r>
            <a:endParaRPr lang="en-US" cap="none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5954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cap="none" dirty="0">
                <a:latin typeface="Courier New" panose="02070309020205020404" pitchFamily="49" charset="0"/>
              </a:rPr>
              <a:t>generate</a:t>
            </a:r>
            <a:r>
              <a:rPr lang="en-US" dirty="0"/>
              <a:t> variables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generate</a:t>
            </a:r>
            <a:r>
              <a:rPr lang="en-US" dirty="0"/>
              <a:t> (abbreviated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gen</a:t>
            </a:r>
            <a:r>
              <a:rPr lang="en-US" dirty="0"/>
              <a:t> or even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g</a:t>
            </a:r>
            <a:r>
              <a:rPr lang="en-US" dirty="0"/>
              <a:t>)  is the basic command to create variables</a:t>
            </a:r>
          </a:p>
          <a:p>
            <a:pPr lvl="1"/>
            <a:r>
              <a:rPr lang="en-US" dirty="0"/>
              <a:t>Often from other existing variables</a:t>
            </a:r>
          </a:p>
          <a:p>
            <a:pPr lvl="1"/>
            <a:r>
              <a:rPr lang="en-US" dirty="0"/>
              <a:t>if the value of the input variable is missing, the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generate</a:t>
            </a:r>
            <a:r>
              <a:rPr lang="en-US" dirty="0"/>
              <a:t>d value will be missing as well.</a:t>
            </a:r>
          </a:p>
          <a:p>
            <a:r>
              <a:rPr lang="en-US" dirty="0"/>
              <a:t>We will be using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gen</a:t>
            </a:r>
            <a:r>
              <a:rPr lang="en-US" dirty="0"/>
              <a:t> throughout this seminar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EA94B4E-AAD1-4F5C-A19B-B700DB62042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>
                <a:solidFill>
                  <a:srgbClr val="169A1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*sum of tests</a:t>
            </a:r>
            <a:br>
              <a:rPr lang="en-US" dirty="0">
                <a:solidFill>
                  <a:srgbClr val="169A1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solidFill>
                  <a:srgbClr val="169A1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 if any test=., </a:t>
            </a:r>
            <a:r>
              <a:rPr lang="en-US" dirty="0" err="1">
                <a:solidFill>
                  <a:srgbClr val="169A1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testsum</a:t>
            </a:r>
            <a:r>
              <a:rPr lang="en-US" dirty="0">
                <a:solidFill>
                  <a:srgbClr val="169A1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=.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gen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testsum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test1 + test2 + test3</a:t>
            </a:r>
          </a:p>
          <a:p>
            <a:endParaRPr lang="en-US" dirty="0"/>
          </a:p>
          <a:p>
            <a:r>
              <a:rPr lang="en-US" dirty="0">
                <a:solidFill>
                  <a:srgbClr val="169A16"/>
                </a:solidFill>
              </a:rPr>
              <a:t>*reverse-code a 1,2,3 variable</a:t>
            </a:r>
          </a:p>
          <a:p>
            <a:r>
              <a:rPr lang="en-US" dirty="0"/>
              <a:t>gen </a:t>
            </a:r>
            <a:r>
              <a:rPr lang="en-US" dirty="0" err="1"/>
              <a:t>revvar</a:t>
            </a:r>
            <a:r>
              <a:rPr lang="en-US" dirty="0"/>
              <a:t> = 4-var</a:t>
            </a:r>
          </a:p>
        </p:txBody>
      </p:sp>
    </p:spTree>
    <p:extLst>
      <p:ext uri="{BB962C8B-B14F-4D97-AF65-F5344CB8AC3E}">
        <p14:creationId xmlns:p14="http://schemas.microsoft.com/office/powerpoint/2010/main" val="17121662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7E9970-F844-4FCC-B716-D0667A83C8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Functions to use with </a:t>
            </a:r>
            <a:r>
              <a:rPr lang="en-US" cap="none" dirty="0">
                <a:latin typeface="Courier New" panose="02070309020205020404" pitchFamily="49" charset="0"/>
                <a:cs typeface="Courier New" panose="02070309020205020404" pitchFamily="49" charset="0"/>
              </a:rPr>
              <a:t>generate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864C57-46EC-4BA4-A233-14F9CE4AE04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We can use functions to perform some operation on a variable to generate another variable</a:t>
            </a:r>
          </a:p>
          <a:p>
            <a:r>
              <a:rPr lang="en-US" dirty="0"/>
              <a:t>Later sections of this seminar will take a focused look at the function groups </a:t>
            </a:r>
            <a:r>
              <a:rPr lang="en-US" i="1" dirty="0"/>
              <a:t>Date and Time </a:t>
            </a:r>
            <a:r>
              <a:rPr lang="en-US" dirty="0"/>
              <a:t>and </a:t>
            </a:r>
            <a:r>
              <a:rPr lang="en-US" i="1" dirty="0"/>
              <a:t>String</a:t>
            </a:r>
          </a:p>
          <a:p>
            <a:r>
              <a:rPr lang="en-US" dirty="0"/>
              <a:t>We will use many various functions from other groups as well</a:t>
            </a:r>
          </a:p>
          <a:p>
            <a:r>
              <a:rPr lang="en-US" dirty="0"/>
              <a:t>Most of these functions accept no more than one variable as an input</a:t>
            </a: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B53C82-44EA-4A11-A2D1-7438725C2ED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169A16"/>
                </a:solidFill>
              </a:rPr>
              <a:t>*get table of function help pages</a:t>
            </a:r>
          </a:p>
          <a:p>
            <a:r>
              <a:rPr lang="en-US" dirty="0"/>
              <a:t>help functions</a:t>
            </a:r>
          </a:p>
          <a:p>
            <a:endParaRPr lang="en-US" dirty="0"/>
          </a:p>
          <a:p>
            <a:r>
              <a:rPr lang="en-US" dirty="0">
                <a:solidFill>
                  <a:srgbClr val="169A16"/>
                </a:solidFill>
              </a:rPr>
              <a:t>*random number (0,1) for each </a:t>
            </a:r>
            <a:r>
              <a:rPr lang="en-US" dirty="0" err="1">
                <a:solidFill>
                  <a:srgbClr val="169A16"/>
                </a:solidFill>
              </a:rPr>
              <a:t>obs</a:t>
            </a:r>
            <a:endParaRPr lang="en-US" dirty="0">
              <a:solidFill>
                <a:srgbClr val="169A16"/>
              </a:solidFill>
            </a:endParaRPr>
          </a:p>
          <a:p>
            <a:r>
              <a:rPr lang="en-US" dirty="0"/>
              <a:t>gen x = </a:t>
            </a:r>
            <a:r>
              <a:rPr lang="en-US" dirty="0" err="1"/>
              <a:t>runiform</a:t>
            </a:r>
            <a:r>
              <a:rPr lang="en-US" dirty="0"/>
              <a:t>()</a:t>
            </a:r>
          </a:p>
          <a:p>
            <a:endParaRPr lang="en-US" dirty="0"/>
          </a:p>
          <a:p>
            <a:r>
              <a:rPr lang="en-US" dirty="0">
                <a:solidFill>
                  <a:srgbClr val="169A16"/>
                </a:solidFill>
              </a:rPr>
              <a:t>*running (cumulative) sum of x</a:t>
            </a:r>
          </a:p>
          <a:p>
            <a:r>
              <a:rPr lang="en-US" dirty="0"/>
              <a:t>gen </a:t>
            </a:r>
            <a:r>
              <a:rPr lang="en-US" dirty="0" err="1"/>
              <a:t>sumx</a:t>
            </a:r>
            <a:r>
              <a:rPr lang="en-US" dirty="0"/>
              <a:t> = sum(x)</a:t>
            </a:r>
          </a:p>
          <a:p>
            <a:endParaRPr lang="en-US" dirty="0"/>
          </a:p>
          <a:p>
            <a:r>
              <a:rPr lang="en-US" dirty="0">
                <a:solidFill>
                  <a:srgbClr val="169A16"/>
                </a:solidFill>
              </a:rPr>
              <a:t>*extract year from date variable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gen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yr</a:t>
            </a:r>
            <a:r>
              <a:rPr lang="en-US" dirty="0" err="1"/>
              <a:t>_birth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= year(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date_birth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endParaRPr lang="en-US" dirty="0"/>
          </a:p>
          <a:p>
            <a:r>
              <a:rPr lang="en-US" dirty="0">
                <a:solidFill>
                  <a:srgbClr val="169A16"/>
                </a:solidFill>
              </a:rPr>
              <a:t>*extract 1st 3 numbers of phone number</a:t>
            </a:r>
          </a:p>
          <a:p>
            <a:r>
              <a:rPr lang="en-US" dirty="0"/>
              <a:t>gen </a:t>
            </a:r>
            <a:r>
              <a:rPr lang="en-US" dirty="0" err="1"/>
              <a:t>areacode</a:t>
            </a:r>
            <a:r>
              <a:rPr lang="en-US" dirty="0"/>
              <a:t> = </a:t>
            </a:r>
            <a:r>
              <a:rPr lang="en-US" dirty="0" err="1"/>
              <a:t>substr</a:t>
            </a:r>
            <a:r>
              <a:rPr lang="en-US" dirty="0"/>
              <a:t>(phone, 1, 3)</a:t>
            </a:r>
          </a:p>
        </p:txBody>
      </p:sp>
    </p:spTree>
    <p:extLst>
      <p:ext uri="{BB962C8B-B14F-4D97-AF65-F5344CB8AC3E}">
        <p14:creationId xmlns:p14="http://schemas.microsoft.com/office/powerpoint/2010/main" val="32637070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2466DA-6552-47FF-8302-5FFC5604B7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cap="none" dirty="0" err="1">
                <a:latin typeface="Courier New" panose="02070309020205020404" pitchFamily="49" charset="0"/>
                <a:cs typeface="Courier New" panose="02070309020205020404" pitchFamily="49" charset="0"/>
              </a:rPr>
              <a:t>egen</a:t>
            </a:r>
            <a:r>
              <a:rPr lang="en-US" dirty="0"/>
              <a:t>, extended generation command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64FFA-3964-4BD8-86D9-549B44DE5E4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egen</a:t>
            </a:r>
            <a:r>
              <a:rPr lang="en-US" dirty="0"/>
              <a:t> (extended generate) creates variables with its own, </a:t>
            </a:r>
            <a:r>
              <a:rPr lang="en-US" b="1" dirty="0"/>
              <a:t>exclusive</a:t>
            </a:r>
            <a:r>
              <a:rPr lang="en-US" dirty="0"/>
              <a:t> set of functions, which include:</a:t>
            </a:r>
          </a:p>
          <a:p>
            <a:pPr lvl="1"/>
            <a:r>
              <a:rPr lang="en-US" dirty="0"/>
              <a:t>Many functions that accept multiple variables as arguments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cut() </a:t>
            </a:r>
            <a:r>
              <a:rPr lang="en-US" dirty="0"/>
              <a:t>function to create categorical variable from continuous variable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group() </a:t>
            </a:r>
            <a:r>
              <a:rPr lang="en-US" dirty="0"/>
              <a:t>function to create a new grouping variable that is the crossing of two grouping variables</a:t>
            </a:r>
          </a:p>
          <a:p>
            <a:pPr marL="201168" lvl="1" indent="0">
              <a:buNone/>
            </a:pPr>
            <a:r>
              <a:rPr lang="en-US" sz="1400" dirty="0">
                <a:solidFill>
                  <a:srgbClr val="169A1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endParaRPr lang="en-US" dirty="0"/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376BC5-CD81-4F80-B2B2-C7724D57919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-18288">
              <a:buNone/>
            </a:pPr>
            <a:r>
              <a:rPr lang="en-US" sz="1200" dirty="0">
                <a:solidFill>
                  <a:srgbClr val="169A1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*mean of 3 y variables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-18288">
              <a:buNone/>
            </a:pP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egen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ymean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rowmean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(y1 y2 y3)</a:t>
            </a:r>
          </a:p>
          <a:p>
            <a:pPr marL="0" indent="-18288">
              <a:buNone/>
            </a:pPr>
            <a:endParaRPr lang="en-US" sz="1200" dirty="0">
              <a:solidFill>
                <a:srgbClr val="169A16"/>
              </a:solidFill>
            </a:endParaRPr>
          </a:p>
          <a:p>
            <a:pPr marL="0" indent="-18288">
              <a:buNone/>
            </a:pPr>
            <a:r>
              <a:rPr lang="en-US" sz="1200" dirty="0">
                <a:solidFill>
                  <a:srgbClr val="169A1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*how many missing values in y vars</a:t>
            </a:r>
          </a:p>
          <a:p>
            <a:pPr marL="0" indent="-18288">
              <a:buNone/>
            </a:pP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egen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ymiss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rowmiss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(y1 y2 y3)</a:t>
            </a:r>
          </a:p>
          <a:p>
            <a:pPr marL="0" indent="-18288">
              <a:buNone/>
            </a:pPr>
            <a:endParaRPr lang="en-US" sz="1200" dirty="0">
              <a:solidFill>
                <a:srgbClr val="169A1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-18288">
              <a:buNone/>
            </a:pPr>
            <a:r>
              <a:rPr lang="en-US" sz="1200" dirty="0">
                <a:solidFill>
                  <a:srgbClr val="169A1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 how many of the y vars equal 2 or 3</a:t>
            </a:r>
          </a:p>
          <a:p>
            <a:pPr marL="0" indent="-18288">
              <a:buNone/>
            </a:pP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egen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y2or3 =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anycount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(y1 y2 y3), values(2 3)</a:t>
            </a:r>
          </a:p>
          <a:p>
            <a:pPr marL="0" indent="-18288">
              <a:buNone/>
            </a:pPr>
            <a:endParaRPr lang="en-US" sz="1200" dirty="0"/>
          </a:p>
          <a:p>
            <a:pPr marL="0" indent="-18288">
              <a:buNone/>
            </a:pPr>
            <a:endParaRPr lang="en-US" sz="1200" dirty="0"/>
          </a:p>
          <a:p>
            <a:pPr marL="0">
              <a:buNone/>
            </a:pPr>
            <a:r>
              <a:rPr lang="en-US" sz="1200" dirty="0">
                <a:solidFill>
                  <a:srgbClr val="169A1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*age category variable: </a:t>
            </a:r>
          </a:p>
          <a:p>
            <a:pPr marL="0">
              <a:buNone/>
            </a:pPr>
            <a:r>
              <a:rPr lang="en-US" sz="1200" dirty="0">
                <a:solidFill>
                  <a:srgbClr val="169A16"/>
                </a:solidFill>
              </a:rPr>
              <a:t>* </a:t>
            </a:r>
            <a:r>
              <a:rPr lang="en-US" sz="1200" dirty="0">
                <a:solidFill>
                  <a:srgbClr val="169A1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0-17, 18-59, 60-120, with value labels</a:t>
            </a:r>
          </a:p>
          <a:p>
            <a:pPr marL="0" indent="-18288">
              <a:buNone/>
            </a:pP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egen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agecat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= cut(age), at(0, 18, 60, 120) label</a:t>
            </a:r>
            <a:endParaRPr lang="en-US" sz="1200" dirty="0"/>
          </a:p>
          <a:p>
            <a:pPr marL="0" indent="-18288">
              <a:buNone/>
            </a:pPr>
            <a:endParaRPr lang="en-US" sz="1200" dirty="0"/>
          </a:p>
          <a:p>
            <a:pPr marL="0" indent="-18288">
              <a:buNone/>
            </a:pPr>
            <a:endParaRPr lang="en-US" sz="1200" dirty="0"/>
          </a:p>
          <a:p>
            <a:pPr marL="0">
              <a:buNone/>
            </a:pPr>
            <a:r>
              <a:rPr lang="en-US" sz="1200" dirty="0">
                <a:solidFill>
                  <a:srgbClr val="169A1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*create </a:t>
            </a:r>
            <a:r>
              <a:rPr lang="en-US" sz="1200" dirty="0" err="1">
                <a:solidFill>
                  <a:srgbClr val="169A1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agecat</a:t>
            </a:r>
            <a:r>
              <a:rPr lang="en-US" sz="1200" dirty="0">
                <a:solidFill>
                  <a:srgbClr val="169A1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-by-race variable, with value labels</a:t>
            </a:r>
          </a:p>
          <a:p>
            <a:pPr marL="0" indent="-18288">
              <a:buNone/>
            </a:pP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egen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agecat_race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= group(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agecat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, race), label</a:t>
            </a:r>
            <a:endParaRPr lang="en-US" sz="1200" dirty="0"/>
          </a:p>
          <a:p>
            <a:pPr marL="0" indent="-18288">
              <a:buNone/>
            </a:pP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11134101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069848" y="747332"/>
            <a:ext cx="5632704" cy="491947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6600" dirty="0"/>
              <a:t>Selecting observations and variables</a:t>
            </a:r>
            <a:endParaRPr lang="en-US" sz="6600" dirty="0">
              <a:solidFill>
                <a:schemeClr val="tx2"/>
              </a:solidFill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0589F42-419C-40E1-B7B9-1B763E90E0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cap="none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cap="none" dirty="0"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</a:p>
          <a:p>
            <a:r>
              <a:rPr lang="en-US" cap="none" dirty="0">
                <a:latin typeface="Courier New" panose="02070309020205020404" pitchFamily="49" charset="0"/>
                <a:cs typeface="Courier New" panose="02070309020205020404" pitchFamily="49" charset="0"/>
              </a:rPr>
              <a:t>&lt;&gt;=!~&amp;|</a:t>
            </a:r>
          </a:p>
          <a:p>
            <a:r>
              <a:rPr lang="en-US" dirty="0"/>
              <a:t>r</a:t>
            </a:r>
            <a:r>
              <a:rPr lang="en-US" cap="none" dirty="0">
                <a:latin typeface="Courier New" panose="02070309020205020404" pitchFamily="49" charset="0"/>
                <a:cs typeface="Courier New" panose="02070309020205020404" pitchFamily="49" charset="0"/>
              </a:rPr>
              <a:t>eplace</a:t>
            </a:r>
          </a:p>
          <a:p>
            <a:r>
              <a:rPr lang="en-US" dirty="0"/>
              <a:t>recode</a:t>
            </a:r>
            <a:endParaRPr lang="en-US" cap="none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/>
              <a:t>d</a:t>
            </a:r>
            <a:r>
              <a:rPr lang="en-US" cap="none" dirty="0">
                <a:latin typeface="Courier New" panose="02070309020205020404" pitchFamily="49" charset="0"/>
                <a:cs typeface="Courier New" panose="02070309020205020404" pitchFamily="49" charset="0"/>
              </a:rPr>
              <a:t>rop</a:t>
            </a:r>
          </a:p>
          <a:p>
            <a:r>
              <a:rPr lang="en-US" cap="none" dirty="0">
                <a:latin typeface="Courier New" panose="02070309020205020404" pitchFamily="49" charset="0"/>
                <a:cs typeface="Courier New" panose="02070309020205020404" pitchFamily="49" charset="0"/>
              </a:rPr>
              <a:t>keep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586258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cap="none" dirty="0">
                <a:latin typeface="Courier New" panose="02070309020205020404" pitchFamily="49" charset="0"/>
                <a:cs typeface="Courier New" panose="02070309020205020404" pitchFamily="49" charset="0"/>
              </a:rPr>
              <a:t>f: </a:t>
            </a:r>
            <a:r>
              <a:rPr lang="en-US" dirty="0"/>
              <a:t>selecting by condition</a:t>
            </a:r>
            <a:endParaRPr lang="en-US" cap="none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select observations that meet a certain condition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dirty="0"/>
              <a:t> clause usually placed after the command specification, but before the comma that marks the beginning of the list of options.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0" indent="0"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321D1E-DA7A-45F4-811C-AB6A24DD38E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169A16"/>
                </a:solidFill>
              </a:rPr>
              <a:t>*tab x for age &gt; 60, include missing</a:t>
            </a:r>
          </a:p>
          <a:p>
            <a:r>
              <a:rPr lang="en-US" dirty="0"/>
              <a:t>tab x if age &gt; 60, miss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851423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Logical and relational operators</a:t>
            </a:r>
            <a:endParaRPr lang="en-US" cap="none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7009F7E-F4F9-44E3-9E5B-46613D101AC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>
                <a:solidFill>
                  <a:srgbClr val="169A16"/>
                </a:solidFill>
              </a:rPr>
              <a:t>*summary stats for y </a:t>
            </a:r>
          </a:p>
          <a:p>
            <a:r>
              <a:rPr lang="en-US" dirty="0">
                <a:solidFill>
                  <a:srgbClr val="169A16"/>
                </a:solidFill>
              </a:rPr>
              <a:t>* for </a:t>
            </a:r>
            <a:r>
              <a:rPr lang="en-US" dirty="0" err="1">
                <a:solidFill>
                  <a:srgbClr val="169A16"/>
                </a:solidFill>
              </a:rPr>
              <a:t>obs</a:t>
            </a:r>
            <a:r>
              <a:rPr lang="en-US" dirty="0">
                <a:solidFill>
                  <a:srgbClr val="169A16"/>
                </a:solidFill>
              </a:rPr>
              <a:t> where insured not equal to 1 </a:t>
            </a:r>
          </a:p>
          <a:p>
            <a:r>
              <a:rPr lang="en-US" dirty="0" err="1">
                <a:solidFill>
                  <a:schemeClr val="tx1"/>
                </a:solidFill>
              </a:rPr>
              <a:t>summ</a:t>
            </a:r>
            <a:r>
              <a:rPr lang="en-US" dirty="0">
                <a:solidFill>
                  <a:schemeClr val="tx1"/>
                </a:solidFill>
              </a:rPr>
              <a:t> y if insured != 1</a:t>
            </a:r>
          </a:p>
          <a:p>
            <a:endParaRPr lang="en-US" dirty="0">
              <a:solidFill>
                <a:srgbClr val="169A16"/>
              </a:solidFill>
            </a:endParaRPr>
          </a:p>
          <a:p>
            <a:r>
              <a:rPr lang="en-US" dirty="0">
                <a:solidFill>
                  <a:srgbClr val="169A16"/>
                </a:solidFill>
              </a:rPr>
              <a:t>*tab x for </a:t>
            </a:r>
            <a:r>
              <a:rPr lang="en-US" dirty="0" err="1">
                <a:solidFill>
                  <a:srgbClr val="169A16"/>
                </a:solidFill>
              </a:rPr>
              <a:t>obs</a:t>
            </a:r>
            <a:r>
              <a:rPr lang="en-US" dirty="0">
                <a:solidFill>
                  <a:srgbClr val="169A16"/>
                </a:solidFill>
              </a:rPr>
              <a:t> where</a:t>
            </a:r>
          </a:p>
          <a:p>
            <a:r>
              <a:rPr lang="en-US" dirty="0">
                <a:solidFill>
                  <a:srgbClr val="169A16"/>
                </a:solidFill>
              </a:rPr>
              <a:t>*  age &lt; 60 and insured equal to 1</a:t>
            </a:r>
          </a:p>
          <a:p>
            <a:r>
              <a:rPr lang="en-US" dirty="0"/>
              <a:t>tab x if (age &lt; 60) &amp; (insured == 1)</a:t>
            </a:r>
          </a:p>
          <a:p>
            <a:endParaRPr lang="en-US" dirty="0"/>
          </a:p>
        </p:txBody>
      </p:sp>
      <p:graphicFrame>
        <p:nvGraphicFramePr>
          <p:cNvPr id="10" name="Content Placeholder 9">
            <a:extLst>
              <a:ext uri="{FF2B5EF4-FFF2-40B4-BE49-F238E27FC236}">
                <a16:creationId xmlns:a16="http://schemas.microsoft.com/office/drawing/2014/main" id="{3D700E9E-A347-4B70-B640-A3C379C64A48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724951277"/>
              </p:ext>
            </p:extLst>
          </p:nvPr>
        </p:nvGraphicFramePr>
        <p:xfrm>
          <a:off x="2221675" y="1853526"/>
          <a:ext cx="2661221" cy="222504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586701">
                  <a:extLst>
                    <a:ext uri="{9D8B030D-6E8A-4147-A177-3AD203B41FA5}">
                      <a16:colId xmlns:a16="http://schemas.microsoft.com/office/drawing/2014/main" val="1114676462"/>
                    </a:ext>
                  </a:extLst>
                </a:gridCol>
                <a:gridCol w="2074520">
                  <a:extLst>
                    <a:ext uri="{9D8B030D-6E8A-4147-A177-3AD203B41FA5}">
                      <a16:colId xmlns:a16="http://schemas.microsoft.com/office/drawing/2014/main" val="2832258553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Relational Operators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68382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greater than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05316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&lt;=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less than or equal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22393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==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equal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45302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!=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not equal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8675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~=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not equal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402340"/>
                  </a:ext>
                </a:extLst>
              </a:tr>
            </a:tbl>
          </a:graphicData>
        </a:graphic>
      </p:graphicFrame>
      <p:graphicFrame>
        <p:nvGraphicFramePr>
          <p:cNvPr id="11" name="Table 5">
            <a:extLst>
              <a:ext uri="{FF2B5EF4-FFF2-40B4-BE49-F238E27FC236}">
                <a16:creationId xmlns:a16="http://schemas.microsoft.com/office/drawing/2014/main" id="{158E1A06-C56D-4B99-8A97-96719F4979D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43532881"/>
              </p:ext>
            </p:extLst>
          </p:nvPr>
        </p:nvGraphicFramePr>
        <p:xfrm>
          <a:off x="2221675" y="4187469"/>
          <a:ext cx="2661221" cy="185420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566985">
                  <a:extLst>
                    <a:ext uri="{9D8B030D-6E8A-4147-A177-3AD203B41FA5}">
                      <a16:colId xmlns:a16="http://schemas.microsoft.com/office/drawing/2014/main" val="1114676462"/>
                    </a:ext>
                  </a:extLst>
                </a:gridCol>
                <a:gridCol w="2094236">
                  <a:extLst>
                    <a:ext uri="{9D8B030D-6E8A-4147-A177-3AD203B41FA5}">
                      <a16:colId xmlns:a16="http://schemas.microsoft.com/office/drawing/2014/main" val="2832258553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/>
                        <a:t>Logical Operators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68382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&amp;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05316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|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22393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!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45302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~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91388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3839692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02854122-5E56-4A22-A18A-45DA092482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replace</a:t>
            </a:r>
            <a:r>
              <a:rPr lang="en-US" dirty="0"/>
              <a:t> and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A687BEF-4E08-47F7-B52A-CFDF03A3517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replace</a:t>
            </a:r>
            <a:r>
              <a:rPr lang="en-US" dirty="0"/>
              <a:t> command is used to replace the values of an existing variable with new values</a:t>
            </a:r>
          </a:p>
          <a:p>
            <a:r>
              <a:rPr lang="en-US" dirty="0"/>
              <a:t>Typically,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replace</a:t>
            </a:r>
            <a:r>
              <a:rPr lang="en-US" dirty="0"/>
              <a:t> is used with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dirty="0"/>
              <a:t> to replace the values in a subset of observation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77C1C14-AE9B-48B1-90EC-8154EB6CDCA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sz="1400" dirty="0">
                <a:solidFill>
                  <a:srgbClr val="169A1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*binary variable coding whether pain is greater than 6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gen </a:t>
            </a:r>
            <a:r>
              <a:rPr lang="en-US" dirty="0" err="1"/>
              <a:t>highpain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= 0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replace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highpain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= 1 if pain &gt; 6</a:t>
            </a:r>
          </a:p>
          <a:p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482326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Change variable coding with </a:t>
            </a:r>
            <a:r>
              <a:rPr lang="en-US" cap="none" dirty="0">
                <a:latin typeface="Courier New" panose="02070309020205020404" pitchFamily="49" charset="0"/>
                <a:cs typeface="Courier New" panose="02070309020205020404" pitchFamily="49" charset="0"/>
              </a:rPr>
              <a:t>recode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Variables are often not coded the way we want</a:t>
            </a:r>
          </a:p>
          <a:p>
            <a:pPr lvl="1"/>
            <a:r>
              <a:rPr lang="en-US" dirty="0"/>
              <a:t>too many categories or with values out of order. </a:t>
            </a:r>
          </a:p>
          <a:p>
            <a:r>
              <a:rPr lang="en-US" dirty="0"/>
              <a:t>With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recode</a:t>
            </a:r>
            <a:r>
              <a:rPr lang="en-US" dirty="0"/>
              <a:t>, we can handle all recodes for a variable in a single step.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253DDF-74C0-43A0-93F8-33F27358B6F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169A16"/>
                </a:solidFill>
              </a:rPr>
              <a:t>*recode (0,1,2)-&gt;3  and (6,7)-&gt;5</a:t>
            </a:r>
          </a:p>
          <a:p>
            <a:pPr marL="0" indent="0">
              <a:buNone/>
            </a:pPr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recode </a:t>
            </a:r>
            <a:r>
              <a:rPr lang="fr-FR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income_cat</a:t>
            </a:r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 (0 1 2 = 3) (6 7 = 5) 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420449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8BBCF8-8051-4535-89F3-B4AD12C715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keep </a:t>
            </a:r>
            <a:r>
              <a:rPr lang="en-US" dirty="0">
                <a:latin typeface="+mn-lt"/>
                <a:cs typeface="Courier New" panose="02070309020205020404" pitchFamily="49" charset="0"/>
              </a:rPr>
              <a:t>and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drop: </a:t>
            </a:r>
            <a:r>
              <a:rPr lang="en-US" dirty="0">
                <a:latin typeface="+mn-lt"/>
                <a:cs typeface="Courier New" panose="02070309020205020404" pitchFamily="49" charset="0"/>
              </a:rPr>
              <a:t>filtering observations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5C4B15-8F7A-4CAE-9C6A-417CC3793C7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Drop unneeded observations using: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drop if </a:t>
            </a:r>
            <a:r>
              <a:rPr lang="en-US" i="1" dirty="0">
                <a:latin typeface="Courier New" panose="02070309020205020404" pitchFamily="49" charset="0"/>
                <a:cs typeface="Courier New" panose="02070309020205020404" pitchFamily="49" charset="0"/>
              </a:rPr>
              <a:t>exp</a:t>
            </a:r>
          </a:p>
          <a:p>
            <a:r>
              <a:rPr lang="en-US" dirty="0">
                <a:cs typeface="Courier New" panose="02070309020205020404" pitchFamily="49" charset="0"/>
              </a:rPr>
              <a:t>Where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i="1" dirty="0">
                <a:latin typeface="Courier New" panose="02070309020205020404" pitchFamily="49" charset="0"/>
                <a:cs typeface="Courier New" panose="02070309020205020404" pitchFamily="49" charset="0"/>
              </a:rPr>
              <a:t>exp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cs typeface="Courier New" panose="02070309020205020404" pitchFamily="49" charset="0"/>
              </a:rPr>
              <a:t>expresses some condition that if true, will cause an observation to be dropped</a:t>
            </a:r>
          </a:p>
          <a:p>
            <a:r>
              <a:rPr lang="en-US" dirty="0">
                <a:cs typeface="Courier New" panose="02070309020205020404" pitchFamily="49" charset="0"/>
              </a:rPr>
              <a:t>Conversely, we can keep only observations that satisfy some condition with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keep if </a:t>
            </a:r>
            <a:r>
              <a:rPr lang="en-US" i="1" dirty="0">
                <a:latin typeface="Courier New" panose="02070309020205020404" pitchFamily="49" charset="0"/>
                <a:cs typeface="Courier New" panose="02070309020205020404" pitchFamily="49" charset="0"/>
              </a:rPr>
              <a:t>exp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EF1B7C-59FE-4317-8F4C-9F84D9D4F01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>
                <a:solidFill>
                  <a:srgbClr val="169A16"/>
                </a:solidFill>
              </a:rPr>
              <a:t>* drop observations where age &lt; 18</a:t>
            </a:r>
          </a:p>
          <a:p>
            <a:r>
              <a:rPr lang="en-US" dirty="0"/>
              <a:t>drop if age &lt; 18</a:t>
            </a:r>
          </a:p>
          <a:p>
            <a:endParaRPr lang="en-US" dirty="0"/>
          </a:p>
          <a:p>
            <a:r>
              <a:rPr lang="en-US" dirty="0">
                <a:solidFill>
                  <a:srgbClr val="169A16"/>
                </a:solidFill>
              </a:rPr>
              <a:t>* same thing as above</a:t>
            </a:r>
          </a:p>
          <a:p>
            <a:r>
              <a:rPr lang="en-US" dirty="0"/>
              <a:t>keep if age &gt;= 18</a:t>
            </a:r>
          </a:p>
        </p:txBody>
      </p:sp>
    </p:spTree>
    <p:extLst>
      <p:ext uri="{BB962C8B-B14F-4D97-AF65-F5344CB8AC3E}">
        <p14:creationId xmlns:p14="http://schemas.microsoft.com/office/powerpoint/2010/main" val="386143606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65732B1-928E-4BED-A6B3-E645184A1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drop</a:t>
            </a:r>
            <a:r>
              <a:rPr lang="en-US" dirty="0"/>
              <a:t> (or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keep</a:t>
            </a:r>
            <a:r>
              <a:rPr lang="en-US" dirty="0"/>
              <a:t>) variables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8EA6172-2DB5-4D33-8C17-69ACE9CB34C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Unneeded variables can be dropped with: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drop </a:t>
            </a:r>
            <a:r>
              <a:rPr lang="en-US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varlist</a:t>
            </a:r>
            <a:endParaRPr lang="en-US" i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/>
              <a:t>where </a:t>
            </a:r>
            <a:r>
              <a:rPr lang="en-US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varlist</a:t>
            </a:r>
            <a:r>
              <a:rPr lang="en-US" dirty="0"/>
              <a:t> is a list of variables to drop</a:t>
            </a:r>
          </a:p>
          <a:p>
            <a:r>
              <a:rPr lang="en-US" dirty="0"/>
              <a:t>See examples for some shortcuts to drop many variables at once</a:t>
            </a:r>
          </a:p>
          <a:p>
            <a:r>
              <a:rPr lang="en-US" dirty="0"/>
              <a:t>Or, if you need to drop most variables, you can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keep</a:t>
            </a:r>
            <a:r>
              <a:rPr lang="en-US" dirty="0"/>
              <a:t> a few</a:t>
            </a:r>
          </a:p>
          <a:p>
            <a:endParaRPr lang="en-US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0E685D4-AD78-431E-B99A-D2C560EB785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>
                <a:solidFill>
                  <a:srgbClr val="169A16"/>
                </a:solidFill>
              </a:rPr>
              <a:t>* drop variables x y z</a:t>
            </a:r>
          </a:p>
          <a:p>
            <a:r>
              <a:rPr lang="en-US" dirty="0"/>
              <a:t>drop x y z</a:t>
            </a:r>
          </a:p>
          <a:p>
            <a:endParaRPr lang="en-US" dirty="0"/>
          </a:p>
          <a:p>
            <a:r>
              <a:rPr lang="en-US" dirty="0">
                <a:solidFill>
                  <a:srgbClr val="169A16"/>
                </a:solidFill>
              </a:rPr>
              <a:t>* drop all variables in consecutive columns</a:t>
            </a:r>
          </a:p>
          <a:p>
            <a:r>
              <a:rPr lang="en-US" dirty="0">
                <a:solidFill>
                  <a:srgbClr val="169A16"/>
                </a:solidFill>
              </a:rPr>
              <a:t>*   from age-dob</a:t>
            </a:r>
          </a:p>
          <a:p>
            <a:r>
              <a:rPr lang="en-US" dirty="0"/>
              <a:t>drop age-dob</a:t>
            </a:r>
          </a:p>
          <a:p>
            <a:endParaRPr lang="en-US" dirty="0"/>
          </a:p>
          <a:p>
            <a:r>
              <a:rPr lang="en-US" dirty="0">
                <a:solidFill>
                  <a:srgbClr val="169A16"/>
                </a:solidFill>
              </a:rPr>
              <a:t>* drop all variables that begin with “pat”</a:t>
            </a:r>
          </a:p>
          <a:p>
            <a:r>
              <a:rPr lang="en-US" dirty="0"/>
              <a:t>drop pat*</a:t>
            </a:r>
          </a:p>
          <a:p>
            <a:endParaRPr lang="en-US" dirty="0"/>
          </a:p>
          <a:p>
            <a:r>
              <a:rPr lang="en-US" dirty="0">
                <a:solidFill>
                  <a:srgbClr val="169A16"/>
                </a:solidFill>
              </a:rPr>
              <a:t>* drop all variables but age</a:t>
            </a:r>
          </a:p>
          <a:p>
            <a:r>
              <a:rPr lang="en-US" dirty="0"/>
              <a:t>keep age</a:t>
            </a:r>
          </a:p>
        </p:txBody>
      </p:sp>
    </p:spTree>
    <p:extLst>
      <p:ext uri="{BB962C8B-B14F-4D97-AF65-F5344CB8AC3E}">
        <p14:creationId xmlns:p14="http://schemas.microsoft.com/office/powerpoint/2010/main" val="385444842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069848" y="747332"/>
            <a:ext cx="5632704" cy="491947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6600" dirty="0"/>
              <a:t>Missing Data</a:t>
            </a:r>
            <a:endParaRPr lang="en-US" sz="6600" dirty="0">
              <a:solidFill>
                <a:schemeClr val="tx2"/>
              </a:solidFill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0589F42-419C-40E1-B7B9-1B763E90E0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cap="none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cap="none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cap="none" dirty="0">
                <a:latin typeface="Courier New" panose="02070309020205020404" pitchFamily="49" charset="0"/>
                <a:cs typeface="Courier New" panose="02070309020205020404" pitchFamily="49" charset="0"/>
              </a:rPr>
              <a:t>. “” .a .b</a:t>
            </a:r>
          </a:p>
          <a:p>
            <a:r>
              <a:rPr lang="en-US" dirty="0" err="1"/>
              <a:t>misstable</a:t>
            </a:r>
            <a:r>
              <a:rPr lang="en-US" dirty="0"/>
              <a:t> summarize</a:t>
            </a:r>
          </a:p>
          <a:p>
            <a:r>
              <a:rPr lang="en-US" dirty="0" err="1"/>
              <a:t>mvdecode</a:t>
            </a:r>
            <a:endParaRPr lang="en-US" dirty="0"/>
          </a:p>
          <a:p>
            <a:r>
              <a:rPr lang="en-US" dirty="0"/>
              <a:t>missing()</a:t>
            </a:r>
          </a:p>
        </p:txBody>
      </p:sp>
    </p:spTree>
    <p:extLst>
      <p:ext uri="{BB962C8B-B14F-4D97-AF65-F5344CB8AC3E}">
        <p14:creationId xmlns:p14="http://schemas.microsoft.com/office/powerpoint/2010/main" val="133562179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Missing data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Missing values are very common in real data, and it is important for an analyst to be aware of missingness in the data set</a:t>
            </a:r>
          </a:p>
          <a:p>
            <a:pPr lvl="1"/>
            <a:r>
              <a:rPr lang="en-US" dirty="0"/>
              <a:t>Hopefully, you know any missing data codes (e.g. -99) </a:t>
            </a:r>
          </a:p>
          <a:p>
            <a:r>
              <a:rPr lang="en-US" dirty="0"/>
              <a:t>When reading in data from a text or Excel file, missing data can be represented by an empty field.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21EE5E6-B6E0-4F9E-9668-A2138FDE043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>
                <a:solidFill>
                  <a:srgbClr val="169A1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 overview of how missing values work in Stata and Stata commands for missing values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help missing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286377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Missing values in Stata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. is missing for numeric variables (also called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sysmiss</a:t>
            </a:r>
            <a:r>
              <a:rPr lang="en-US" dirty="0"/>
              <a:t>)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“”</a:t>
            </a:r>
            <a:r>
              <a:rPr lang="en-US" dirty="0"/>
              <a:t> is missing for string variables (also called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blank</a:t>
            </a:r>
            <a:r>
              <a:rPr lang="en-US" dirty="0"/>
              <a:t>).</a:t>
            </a:r>
          </a:p>
          <a:p>
            <a:endParaRPr lang="en-US" dirty="0"/>
          </a:p>
          <a:p>
            <a:r>
              <a:rPr lang="en-US" dirty="0"/>
              <a:t>Additional missing data values are available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.a</a:t>
            </a:r>
            <a:r>
              <a:rPr lang="en-US" dirty="0"/>
              <a:t> through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.z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can be used to represent different types of missing (refusal, don’t know, etc.).</a:t>
            </a:r>
          </a:p>
          <a:p>
            <a:endParaRPr lang="en-US" dirty="0"/>
          </a:p>
          <a:p>
            <a:r>
              <a:rPr lang="en-US" dirty="0"/>
              <a:t>Missing values are very large numbers in Stata </a:t>
            </a:r>
          </a:p>
          <a:p>
            <a:pPr lvl="1"/>
            <a:r>
              <a:rPr lang="en-US" sz="1500" dirty="0"/>
              <a:t>all non-missing numbers  </a:t>
            </a:r>
            <a:r>
              <a:rPr lang="en-US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&lt; . &lt; .a &lt; .b &lt; … &lt; .z</a:t>
            </a:r>
            <a:endParaRPr lang="en-US" sz="1500" dirty="0"/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5E592C-ED98-40FC-B6F2-3F1BDB56444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replace </a:t>
            </a:r>
            <a:r>
              <a:rPr lang="en-US" dirty="0" err="1"/>
              <a:t>stringvar</a:t>
            </a:r>
            <a:r>
              <a:rPr lang="en-US" dirty="0"/>
              <a:t> = “” if </a:t>
            </a:r>
            <a:r>
              <a:rPr lang="en-US" dirty="0" err="1"/>
              <a:t>stringvar</a:t>
            </a:r>
            <a:r>
              <a:rPr lang="en-US" dirty="0"/>
              <a:t> == “-99”</a:t>
            </a:r>
          </a:p>
          <a:p>
            <a:endParaRPr lang="en-US" dirty="0"/>
          </a:p>
          <a:p>
            <a:r>
              <a:rPr lang="en-US" dirty="0">
                <a:solidFill>
                  <a:srgbClr val="169A16"/>
                </a:solidFill>
              </a:rPr>
              <a:t>* replace with </a:t>
            </a:r>
            <a:r>
              <a:rPr lang="en-US" dirty="0" err="1">
                <a:solidFill>
                  <a:srgbClr val="169A16"/>
                </a:solidFill>
              </a:rPr>
              <a:t>sysmiss</a:t>
            </a:r>
            <a:r>
              <a:rPr lang="en-US" dirty="0">
                <a:solidFill>
                  <a:srgbClr val="169A16"/>
                </a:solidFill>
              </a:rPr>
              <a:t> if -99 (skipped)</a:t>
            </a:r>
          </a:p>
          <a:p>
            <a:r>
              <a:rPr lang="en-US" dirty="0"/>
              <a:t>replace </a:t>
            </a:r>
            <a:r>
              <a:rPr lang="en-US" dirty="0" err="1"/>
              <a:t>numvar</a:t>
            </a:r>
            <a:r>
              <a:rPr lang="en-US" dirty="0"/>
              <a:t> = . if </a:t>
            </a:r>
            <a:r>
              <a:rPr lang="en-US" dirty="0" err="1"/>
              <a:t>numvar</a:t>
            </a:r>
            <a:r>
              <a:rPr lang="en-US" dirty="0"/>
              <a:t> == -99</a:t>
            </a:r>
          </a:p>
          <a:p>
            <a:endParaRPr lang="en-US" dirty="0"/>
          </a:p>
          <a:p>
            <a:r>
              <a:rPr lang="en-US" dirty="0">
                <a:solidFill>
                  <a:srgbClr val="169A16"/>
                </a:solidFill>
              </a:rPr>
              <a:t>* use .a for different missing data code -98</a:t>
            </a:r>
          </a:p>
          <a:p>
            <a:r>
              <a:rPr lang="en-US" dirty="0">
                <a:solidFill>
                  <a:srgbClr val="169A16"/>
                </a:solidFill>
              </a:rPr>
              <a:t>*  (e.g. refused to answer)</a:t>
            </a:r>
          </a:p>
          <a:p>
            <a:r>
              <a:rPr lang="en-US" dirty="0"/>
              <a:t>replace </a:t>
            </a:r>
            <a:r>
              <a:rPr lang="en-US" dirty="0" err="1"/>
              <a:t>numvar</a:t>
            </a:r>
            <a:r>
              <a:rPr lang="en-US" dirty="0"/>
              <a:t> = .a if </a:t>
            </a:r>
            <a:r>
              <a:rPr lang="en-US" dirty="0" err="1"/>
              <a:t>numvar</a:t>
            </a:r>
            <a:r>
              <a:rPr lang="en-US" dirty="0"/>
              <a:t> == -98</a:t>
            </a:r>
          </a:p>
          <a:p>
            <a:endParaRPr lang="en-US" dirty="0"/>
          </a:p>
          <a:p>
            <a:pPr marL="0" indent="0"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266080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21A203-7661-4FF5-BF9C-FC62D4965A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misstable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summarize</a:t>
            </a:r>
            <a:r>
              <a:rPr lang="en-US" dirty="0"/>
              <a:t>: finding existing missing values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7C2554-A4A6-47EB-951A-EAF610A219A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misstable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summarize </a:t>
            </a:r>
            <a:r>
              <a:rPr lang="en-US" dirty="0"/>
              <a:t>produces a table of missing values (of all types) across a set of variables</a:t>
            </a:r>
          </a:p>
          <a:p>
            <a:r>
              <a:rPr lang="en-US" dirty="0">
                <a:latin typeface="+mj-lt"/>
                <a:cs typeface="Courier New" panose="02070309020205020404" pitchFamily="49" charset="0"/>
              </a:rPr>
              <a:t>column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Obs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=. </a:t>
            </a:r>
            <a:r>
              <a:rPr lang="en-US" dirty="0">
                <a:latin typeface="+mj-lt"/>
                <a:cs typeface="Courier New" panose="02070309020205020404" pitchFamily="49" charset="0"/>
              </a:rPr>
              <a:t>counts the number of missing values equal to .</a:t>
            </a:r>
          </a:p>
          <a:p>
            <a:r>
              <a:rPr lang="en-US" dirty="0">
                <a:latin typeface="+mj-lt"/>
                <a:cs typeface="Courier New" panose="02070309020205020404" pitchFamily="49" charset="0"/>
              </a:rPr>
              <a:t>column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Obs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&gt;. </a:t>
            </a:r>
            <a:r>
              <a:rPr lang="en-US" dirty="0">
                <a:latin typeface="+mj-lt"/>
                <a:cs typeface="Courier New" panose="02070309020205020404" pitchFamily="49" charset="0"/>
              </a:rPr>
              <a:t>counts the number of missing values other than ., such as .a and .b</a:t>
            </a:r>
          </a:p>
          <a:p>
            <a:r>
              <a:rPr lang="en-US" dirty="0">
                <a:latin typeface="+mj-lt"/>
                <a:cs typeface="Courier New" panose="02070309020205020404" pitchFamily="49" charset="0"/>
              </a:rPr>
              <a:t>column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Obs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&lt;. </a:t>
            </a:r>
            <a:r>
              <a:rPr lang="en-US" dirty="0">
                <a:latin typeface="+mj-lt"/>
                <a:cs typeface="Courier New" panose="02070309020205020404" pitchFamily="49" charset="0"/>
              </a:rPr>
              <a:t>and the entire right-hand section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Obs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&lt;. </a:t>
            </a:r>
            <a:r>
              <a:rPr lang="en-US" dirty="0">
                <a:latin typeface="+mj-lt"/>
                <a:cs typeface="Courier New" panose="02070309020205020404" pitchFamily="49" charset="0"/>
              </a:rPr>
              <a:t>address non-missing values</a:t>
            </a:r>
          </a:p>
          <a:p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39D4EEC-32B3-4A1C-BF9F-9DDBA03ADED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>
                <a:solidFill>
                  <a:srgbClr val="169A1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*table of missing values across all variables</a:t>
            </a: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misstable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summarize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032173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Detecting missing data codes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extreme numeric values are often used to represent missing values</a:t>
            </a:r>
          </a:p>
          <a:p>
            <a:pPr lvl="1"/>
            <a:r>
              <a:rPr lang="en-US" dirty="0"/>
              <a:t>-99 or 999</a:t>
            </a:r>
          </a:p>
          <a:p>
            <a:r>
              <a:rPr lang="en-US" dirty="0"/>
              <a:t>Undetected, these missing data codes can be included as real data in statistical analysis</a:t>
            </a:r>
          </a:p>
          <a:p>
            <a:r>
              <a:rPr lang="en-US" dirty="0"/>
              <a:t>Use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summarize</a:t>
            </a:r>
            <a:r>
              <a:rPr lang="en-US" dirty="0"/>
              <a:t> and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graph boxplot </a:t>
            </a:r>
            <a:r>
              <a:rPr lang="en-US" dirty="0"/>
              <a:t>to look for missing data codes across many variables at once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160AA1F-A94B-4851-8AD2-68BA262E8C2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>
                <a:solidFill>
                  <a:srgbClr val="169A16"/>
                </a:solidFill>
              </a:rPr>
              <a:t>*boxplot of variables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graph box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lungcapacity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test1 test2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890124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Use </a:t>
            </a:r>
            <a:r>
              <a:rPr lang="en-US" cap="none" dirty="0" err="1">
                <a:latin typeface="Courier New" panose="02070309020205020404" pitchFamily="49" charset="0"/>
                <a:cs typeface="Courier New" panose="02070309020205020404" pitchFamily="49" charset="0"/>
              </a:rPr>
              <a:t>mvdecode</a:t>
            </a:r>
            <a:r>
              <a:rPr lang="en-US" dirty="0"/>
              <a:t> to convert user-defined missing data codes to missing values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We can quickly convert all user-defined missing codes to system missing values across all numeric variables with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mvdecode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>
                <a:cs typeface="Courier New" panose="02070309020205020404" pitchFamily="49" charset="0"/>
              </a:rPr>
              <a:t>Unfortunately,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mvdecode</a:t>
            </a:r>
            <a:r>
              <a:rPr lang="en-US" dirty="0">
                <a:cs typeface="Courier New" panose="02070309020205020404" pitchFamily="49" charset="0"/>
              </a:rPr>
              <a:t> will not work at all on string variables.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CFC6DA-9C93-4538-9B32-05212CCD81C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169A16"/>
                </a:solidFill>
              </a:rPr>
              <a:t>*convert -99 to . for all variables</a:t>
            </a:r>
          </a:p>
          <a:p>
            <a:pPr marL="0" indent="0">
              <a:buNone/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mvdecode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_all, mv(-99)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169A16"/>
                </a:solidFill>
              </a:rPr>
              <a:t>*convert -99 to . and -98 to .a</a:t>
            </a:r>
          </a:p>
          <a:p>
            <a:pPr marL="0" indent="0">
              <a:buNone/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mvdecode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_all, mv(-99 =. \ -98=.a)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1113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BC8C2B-76B4-42C3-B2E2-609A0268E0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missing()</a:t>
            </a:r>
            <a:r>
              <a:rPr lang="en-US" dirty="0"/>
              <a:t>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15B444-9512-429B-99FC-89FE775E08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3968498" cy="4023359"/>
          </a:xfrm>
        </p:spPr>
        <p:txBody>
          <a:bodyPr/>
          <a:lstStyle/>
          <a:p>
            <a:r>
              <a:rPr lang="en-US" dirty="0"/>
              <a:t>The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missing()</a:t>
            </a:r>
            <a:r>
              <a:rPr lang="en-US" dirty="0"/>
              <a:t> function returns TRUE if the value is any one of Stata’s missing values (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dirty="0"/>
              <a:t>,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.a</a:t>
            </a:r>
            <a:r>
              <a:rPr lang="en-US" dirty="0"/>
              <a:t>,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.b</a:t>
            </a:r>
            <a:r>
              <a:rPr lang="en-US" dirty="0"/>
              <a:t>, </a:t>
            </a:r>
            <a:r>
              <a:rPr lang="en-US" dirty="0" err="1"/>
              <a:t>etc</a:t>
            </a:r>
            <a:r>
              <a:rPr lang="en-US" dirty="0"/>
              <a:t>)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8CB840-BD1F-4986-8C3E-77C74C0D24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76088" y="1845735"/>
            <a:ext cx="5879592" cy="4023360"/>
          </a:xfrm>
        </p:spPr>
        <p:txBody>
          <a:bodyPr/>
          <a:lstStyle/>
          <a:p>
            <a:r>
              <a:rPr lang="en-US" dirty="0">
                <a:solidFill>
                  <a:srgbClr val="169A16"/>
                </a:solidFill>
              </a:rPr>
              <a:t>*eligible if not missing for </a:t>
            </a:r>
            <a:r>
              <a:rPr lang="en-US" dirty="0" err="1">
                <a:solidFill>
                  <a:srgbClr val="169A16"/>
                </a:solidFill>
              </a:rPr>
              <a:t>lungcapacity</a:t>
            </a:r>
            <a:endParaRPr lang="en-US" dirty="0">
              <a:solidFill>
                <a:srgbClr val="169A16"/>
              </a:solidFill>
            </a:endParaRPr>
          </a:p>
          <a:p>
            <a:r>
              <a:rPr lang="en-US" dirty="0"/>
              <a:t>gen eligible = 0</a:t>
            </a:r>
          </a:p>
          <a:p>
            <a:r>
              <a:rPr lang="en-US" dirty="0"/>
              <a:t>replace eligible = 1 if !missing(</a:t>
            </a:r>
            <a:r>
              <a:rPr lang="en-US" dirty="0" err="1"/>
              <a:t>lungcapacity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80988594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Be careful with relational operators when working with missing values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Missing values are very large numbers in Stata </a:t>
            </a:r>
          </a:p>
          <a:p>
            <a:pPr lvl="1"/>
            <a:r>
              <a:rPr lang="en-US" sz="1500" dirty="0"/>
              <a:t>all non-missing numbers  </a:t>
            </a:r>
            <a:r>
              <a:rPr lang="en-US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&lt; . &lt; .a &lt; .b &lt; … &lt; .z</a:t>
            </a:r>
            <a:endParaRPr lang="en-US" sz="1500" dirty="0"/>
          </a:p>
          <a:p>
            <a:endParaRPr lang="en-US" dirty="0"/>
          </a:p>
          <a:p>
            <a:r>
              <a:rPr lang="en-US" dirty="0"/>
              <a:t>Thus,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(. &gt; 50) </a:t>
            </a:r>
            <a:r>
              <a:rPr lang="en-US" dirty="0"/>
              <a:t>results in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TRUE</a:t>
            </a:r>
          </a:p>
          <a:p>
            <a:endParaRPr lang="en-US" dirty="0"/>
          </a:p>
          <a:p>
            <a:r>
              <a:rPr lang="en-US" dirty="0"/>
              <a:t>When creating variables from other variables, make sure you know how you want to handle missing values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21F22C-3942-4127-9770-B8D25632F8D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>
                <a:solidFill>
                  <a:srgbClr val="169A16"/>
                </a:solidFill>
              </a:rPr>
              <a:t>* we want hightest1 = 1 if test1 &gt; 10</a:t>
            </a:r>
          </a:p>
          <a:p>
            <a:r>
              <a:rPr lang="en-US" dirty="0">
                <a:solidFill>
                  <a:srgbClr val="169A16"/>
                </a:solidFill>
              </a:rPr>
              <a:t>*  but . &gt; 10, so this is not right</a:t>
            </a:r>
          </a:p>
          <a:p>
            <a:r>
              <a:rPr lang="en-US" dirty="0"/>
              <a:t>gen hightest1 = 0</a:t>
            </a:r>
          </a:p>
          <a:p>
            <a:r>
              <a:rPr lang="en-US" dirty="0"/>
              <a:t>replace hightest1 = 1 if test1 &gt; 10</a:t>
            </a:r>
          </a:p>
          <a:p>
            <a:endParaRPr lang="en-US" dirty="0"/>
          </a:p>
          <a:p>
            <a:r>
              <a:rPr lang="en-US" dirty="0">
                <a:solidFill>
                  <a:srgbClr val="169A16"/>
                </a:solidFill>
              </a:rPr>
              <a:t>*now hightest1 will be . when test1 is .</a:t>
            </a:r>
          </a:p>
          <a:p>
            <a:r>
              <a:rPr lang="en-US" dirty="0"/>
              <a:t>replace hightest1 = . if test1 == 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808387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069848" y="747332"/>
            <a:ext cx="5632704" cy="491947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6600" dirty="0"/>
              <a:t>Date variables</a:t>
            </a:r>
            <a:endParaRPr lang="en-US" sz="6600" dirty="0">
              <a:solidFill>
                <a:schemeClr val="tx2"/>
              </a:solidFill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0589F42-419C-40E1-B7B9-1B763E90E0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571232" y="749808"/>
            <a:ext cx="3776472" cy="4916996"/>
          </a:xfrm>
        </p:spPr>
        <p:txBody>
          <a:bodyPr/>
          <a:lstStyle/>
          <a:p>
            <a:endParaRPr lang="en-US" dirty="0"/>
          </a:p>
          <a:p>
            <a:endParaRPr lang="en-US" cap="none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cap="none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cap="none" dirty="0">
                <a:latin typeface="Courier New" panose="02070309020205020404" pitchFamily="49" charset="0"/>
                <a:cs typeface="Courier New" panose="02070309020205020404" pitchFamily="49" charset="0"/>
              </a:rPr>
              <a:t>help datetime</a:t>
            </a:r>
          </a:p>
          <a:p>
            <a:r>
              <a:rPr lang="en-US" dirty="0"/>
              <a:t>date()</a:t>
            </a:r>
          </a:p>
          <a:p>
            <a:r>
              <a:rPr lang="en-US" dirty="0"/>
              <a:t>format</a:t>
            </a:r>
          </a:p>
          <a:p>
            <a:r>
              <a:rPr lang="en-US" dirty="0"/>
              <a:t>year() month() day()</a:t>
            </a:r>
          </a:p>
        </p:txBody>
      </p:sp>
    </p:spTree>
    <p:extLst>
      <p:ext uri="{BB962C8B-B14F-4D97-AF65-F5344CB8AC3E}">
        <p14:creationId xmlns:p14="http://schemas.microsoft.com/office/powerpoint/2010/main" val="7366092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31520B3-04D8-4920-9DB5-7D0023E23E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Dates as strings and numbers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DACD118-1FF8-49DB-A7D1-0B7783B7C51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In Stata we can store dates as strings…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“January 2, 2021”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“1-2-2021”</a:t>
            </a:r>
          </a:p>
          <a:p>
            <a:r>
              <a:rPr lang="en-US" dirty="0"/>
              <a:t>However, dates should be represented numerically in Stata if the date </a:t>
            </a:r>
            <a:r>
              <a:rPr lang="en-US" i="1" dirty="0"/>
              <a:t>data</a:t>
            </a:r>
            <a:r>
              <a:rPr lang="en-US" dirty="0"/>
              <a:t> are needed</a:t>
            </a:r>
          </a:p>
          <a:p>
            <a:pPr lvl="1"/>
            <a:r>
              <a:rPr lang="en-US" dirty="0"/>
              <a:t>To create analysis variables</a:t>
            </a:r>
          </a:p>
          <a:p>
            <a:pPr lvl="1"/>
            <a:r>
              <a:rPr lang="en-US" dirty="0"/>
              <a:t>For plotting</a:t>
            </a:r>
          </a:p>
          <a:p>
            <a:r>
              <a:rPr lang="en-US" dirty="0"/>
              <a:t>Numeric dates (with day, month, and year data) in Stata are represented by the number of days since January 1, 1960 (a reference date)</a:t>
            </a:r>
          </a:p>
          <a:p>
            <a:pPr lvl="1"/>
            <a:r>
              <a:rPr lang="en-US" dirty="0"/>
              <a:t>January 2, 2021 = 22,280 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F46510E-C60A-4380-905A-3B207590935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r>
              <a:rPr lang="en-US" dirty="0">
                <a:solidFill>
                  <a:srgbClr val="169A16"/>
                </a:solidFill>
              </a:rPr>
              <a:t>* Overview of how Stata handles dates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help datetime</a:t>
            </a:r>
            <a:endParaRPr lang="en-US" dirty="0">
              <a:solidFill>
                <a:srgbClr val="169A16"/>
              </a:solidFill>
            </a:endParaRPr>
          </a:p>
          <a:p>
            <a:endParaRPr lang="en-US" dirty="0">
              <a:solidFill>
                <a:srgbClr val="169A16"/>
              </a:solidFill>
            </a:endParaRPr>
          </a:p>
          <a:p>
            <a:r>
              <a:rPr lang="en-US" dirty="0">
                <a:solidFill>
                  <a:srgbClr val="169A16"/>
                </a:solidFill>
              </a:rPr>
              <a:t>*Use codebook or describe to determine whether your date variable is a string or number</a:t>
            </a:r>
          </a:p>
          <a:p>
            <a:r>
              <a:rPr lang="en-US" dirty="0"/>
              <a:t>codebook </a:t>
            </a:r>
            <a:r>
              <a:rPr lang="en-US" dirty="0" err="1"/>
              <a:t>date_var</a:t>
            </a:r>
            <a:endParaRPr lang="en-US" dirty="0"/>
          </a:p>
          <a:p>
            <a:endParaRPr lang="en-US" dirty="0"/>
          </a:p>
          <a:p>
            <a:r>
              <a:rPr lang="en-US" dirty="0">
                <a:solidFill>
                  <a:srgbClr val="169A16"/>
                </a:solidFill>
              </a:rPr>
              <a:t>*Alternatively, we can look at the variable in the browser: red=string, blue/black=number</a:t>
            </a:r>
          </a:p>
          <a:p>
            <a:r>
              <a:rPr lang="en-US" dirty="0"/>
              <a:t>browse </a:t>
            </a:r>
            <a:r>
              <a:rPr lang="en-US" dirty="0" err="1"/>
              <a:t>date_var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247052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23934C-2735-4214-A349-FC6E9B6FFF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date(): </a:t>
            </a:r>
            <a:r>
              <a:rPr lang="en-US" dirty="0"/>
              <a:t>converting string dates to numeric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0A77FB-5EE1-48BD-9B5B-32C893D249A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Use the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date() </a:t>
            </a:r>
            <a:r>
              <a:rPr lang="en-US" dirty="0"/>
              <a:t>function to convert string dates to numeric in Stata</a:t>
            </a:r>
          </a:p>
          <a:p>
            <a:r>
              <a:rPr lang="en-US" dirty="0"/>
              <a:t>The generic syntax, for example with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gen,</a:t>
            </a:r>
            <a:r>
              <a:rPr lang="en-US" dirty="0"/>
              <a:t> is: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gen </a:t>
            </a:r>
            <a:r>
              <a:rPr lang="en-US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varname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date(</a:t>
            </a:r>
            <a:r>
              <a:rPr lang="en-US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stringdate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i="1" dirty="0">
                <a:latin typeface="Courier New" panose="02070309020205020404" pitchFamily="49" charset="0"/>
                <a:cs typeface="Courier New" panose="02070309020205020404" pitchFamily="49" charset="0"/>
              </a:rPr>
              <a:t>mask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lvl="1"/>
            <a:r>
              <a:rPr lang="en-US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stringdate</a:t>
            </a:r>
            <a:r>
              <a:rPr lang="en-US" dirty="0"/>
              <a:t> is a variable </a:t>
            </a:r>
          </a:p>
          <a:p>
            <a:pPr lvl="1"/>
            <a:r>
              <a:rPr lang="en-US" i="1" dirty="0">
                <a:latin typeface="Courier New" panose="02070309020205020404" pitchFamily="49" charset="0"/>
                <a:cs typeface="Courier New" panose="02070309020205020404" pitchFamily="49" charset="0"/>
              </a:rPr>
              <a:t>mask</a:t>
            </a:r>
            <a:r>
              <a:rPr lang="en-US" dirty="0"/>
              <a:t> is a code that specifies the order of the components of the date</a:t>
            </a:r>
          </a:p>
          <a:p>
            <a:r>
              <a:rPr lang="en-US" dirty="0"/>
              <a:t>For day, month, year dates:</a:t>
            </a:r>
          </a:p>
          <a:p>
            <a:pPr lvl="1"/>
            <a:r>
              <a:rPr lang="en-US" i="1" dirty="0">
                <a:latin typeface="Courier New" panose="02070309020205020404" pitchFamily="49" charset="0"/>
                <a:cs typeface="Courier New" panose="02070309020205020404" pitchFamily="49" charset="0"/>
              </a:rPr>
              <a:t>mask</a:t>
            </a:r>
            <a:r>
              <a:rPr lang="en-US" dirty="0"/>
              <a:t> is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“MDY” </a:t>
            </a:r>
            <a:r>
              <a:rPr lang="en-US" dirty="0"/>
              <a:t>if the order is month, day, year</a:t>
            </a:r>
          </a:p>
          <a:p>
            <a:pPr lvl="1"/>
            <a:r>
              <a:rPr lang="en-US" i="1" dirty="0">
                <a:latin typeface="Courier New" panose="02070309020205020404" pitchFamily="49" charset="0"/>
                <a:cs typeface="Courier New" panose="02070309020205020404" pitchFamily="49" charset="0"/>
              </a:rPr>
              <a:t>mask</a:t>
            </a:r>
            <a:r>
              <a:rPr lang="en-US" dirty="0"/>
              <a:t> is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“DMY” </a:t>
            </a:r>
            <a:r>
              <a:rPr lang="en-US" dirty="0"/>
              <a:t>if the order is day, month, year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8F4720-B1E0-4861-8772-40DF5B7DA1B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169A16"/>
                </a:solidFill>
              </a:rPr>
              <a:t>* create numeric version of date of birth</a:t>
            </a:r>
          </a:p>
          <a:p>
            <a:r>
              <a:rPr lang="en-US" dirty="0">
                <a:solidFill>
                  <a:srgbClr val="169A16"/>
                </a:solidFill>
              </a:rPr>
              <a:t>*  order is month, day, year</a:t>
            </a:r>
          </a:p>
          <a:p>
            <a:r>
              <a:rPr lang="en-US" dirty="0"/>
              <a:t>gen </a:t>
            </a:r>
            <a:r>
              <a:rPr lang="en-US" dirty="0" err="1"/>
              <a:t>newdob</a:t>
            </a:r>
            <a:r>
              <a:rPr lang="en-US" dirty="0"/>
              <a:t> = date(dob, “MDY”)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408174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55DA4D-D7EC-4035-8EA6-97606DEE11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date() </a:t>
            </a:r>
            <a:r>
              <a:rPr lang="en-US" dirty="0"/>
              <a:t>function accepts dates in many formats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7C3250-676F-4D86-A492-34A1C8F8959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String dates are recorded in many different formats, but fortunately, the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date() </a:t>
            </a:r>
            <a:r>
              <a:rPr lang="en-US" dirty="0"/>
              <a:t>function is flexible in what it accepts as inputs</a:t>
            </a:r>
          </a:p>
          <a:p>
            <a:pPr marL="201168" lvl="1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812169-BFE5-4005-B222-3D7210AB386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r>
              <a:rPr lang="it-IT" dirty="0">
                <a:solidFill>
                  <a:srgbClr val="169A16"/>
                </a:solidFill>
              </a:rPr>
              <a:t>*just display commands to show date() usage</a:t>
            </a:r>
          </a:p>
          <a:p>
            <a:r>
              <a:rPr lang="it-IT" dirty="0"/>
              <a:t>. di date("March 5, 2021", "MDY")</a:t>
            </a:r>
          </a:p>
          <a:p>
            <a:r>
              <a:rPr lang="it-IT" dirty="0"/>
              <a:t>22344</a:t>
            </a:r>
          </a:p>
          <a:p>
            <a:endParaRPr lang="it-IT" dirty="0"/>
          </a:p>
          <a:p>
            <a:r>
              <a:rPr lang="it-IT" dirty="0"/>
              <a:t>. di date("Mar 5, 2021", "MDY")</a:t>
            </a:r>
          </a:p>
          <a:p>
            <a:r>
              <a:rPr lang="it-IT" dirty="0"/>
              <a:t>22344</a:t>
            </a:r>
          </a:p>
          <a:p>
            <a:endParaRPr lang="it-IT" dirty="0"/>
          </a:p>
          <a:p>
            <a:r>
              <a:rPr lang="it-IT" dirty="0"/>
              <a:t>. di date("3/5/2021", "MDY")</a:t>
            </a:r>
          </a:p>
          <a:p>
            <a:r>
              <a:rPr lang="it-IT" dirty="0"/>
              <a:t>22344</a:t>
            </a:r>
          </a:p>
          <a:p>
            <a:endParaRPr lang="it-IT" dirty="0"/>
          </a:p>
          <a:p>
            <a:r>
              <a:rPr lang="it-IT" dirty="0"/>
              <a:t>. di date("3-5-2021", "MDY")</a:t>
            </a:r>
          </a:p>
          <a:p>
            <a:r>
              <a:rPr lang="it-IT" dirty="0"/>
              <a:t>22344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>
                <a:solidFill>
                  <a:srgbClr val="169A16"/>
                </a:solidFill>
              </a:rPr>
              <a:t>*add 20 or 19 to the mask if year is 2-digit</a:t>
            </a:r>
          </a:p>
          <a:p>
            <a:r>
              <a:rPr lang="it-IT" dirty="0"/>
              <a:t>. di date("3-5-21", "MD20Y")</a:t>
            </a:r>
          </a:p>
          <a:p>
            <a:r>
              <a:rPr lang="it-IT" dirty="0"/>
              <a:t>22344</a:t>
            </a:r>
          </a:p>
          <a:p>
            <a:endParaRPr lang="it-IT" dirty="0"/>
          </a:p>
          <a:p>
            <a:r>
              <a:rPr lang="it-IT" dirty="0"/>
              <a:t>. di date("3-5-21", "MD19Y")</a:t>
            </a:r>
          </a:p>
          <a:p>
            <a:r>
              <a:rPr lang="it-IT" dirty="0"/>
              <a:t>-14181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180530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2063D6-FFCD-4BC2-A8A3-2BBA2FD0D2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Formatting numeric dates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3AE35B-3070-42BE-BD57-03580F8E8C1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After conversion using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date()</a:t>
            </a:r>
            <a:r>
              <a:rPr lang="en-US" dirty="0"/>
              <a:t>, the resulting variable will be filled with numbers representing dates, but can be hard to read directly as dates</a:t>
            </a:r>
          </a:p>
          <a:p>
            <a:r>
              <a:rPr lang="en-US" dirty="0"/>
              <a:t>Stata’s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format</a:t>
            </a:r>
            <a:r>
              <a:rPr lang="en-US" dirty="0"/>
              <a:t> command controls how variables are displayed</a:t>
            </a:r>
          </a:p>
          <a:p>
            <a:r>
              <a:rPr lang="en-US" dirty="0"/>
              <a:t>The format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%td</a:t>
            </a:r>
            <a:r>
              <a:rPr lang="en-US" dirty="0"/>
              <a:t> formats numbers as dates</a:t>
            </a:r>
          </a:p>
          <a:p>
            <a:pPr lvl="1"/>
            <a:r>
              <a:rPr lang="it-IT" dirty="0">
                <a:latin typeface="Courier New" panose="02070309020205020404" pitchFamily="49" charset="0"/>
                <a:cs typeface="Courier New" panose="02070309020205020404" pitchFamily="49" charset="0"/>
              </a:rPr>
              <a:t>22344</a:t>
            </a:r>
            <a:r>
              <a:rPr lang="it-IT" dirty="0"/>
              <a:t> will appear as </a:t>
            </a:r>
            <a:r>
              <a:rPr lang="it-IT" dirty="0">
                <a:latin typeface="Courier New" panose="02070309020205020404" pitchFamily="49" charset="0"/>
                <a:cs typeface="Courier New" panose="02070309020205020404" pitchFamily="49" charset="0"/>
              </a:rPr>
              <a:t>2mar2021</a:t>
            </a:r>
            <a:r>
              <a:rPr lang="it-IT" dirty="0"/>
              <a:t> after applying the format</a:t>
            </a:r>
            <a:endParaRPr lang="en-US" dirty="0"/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A3ACCA-9A6E-49E9-AD68-1CE9CC00088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169A16"/>
                </a:solidFill>
              </a:rPr>
              <a:t>*apply date format to variable </a:t>
            </a:r>
            <a:r>
              <a:rPr lang="en-US" dirty="0" err="1">
                <a:solidFill>
                  <a:srgbClr val="169A16"/>
                </a:solidFill>
              </a:rPr>
              <a:t>newdob</a:t>
            </a:r>
            <a:endParaRPr lang="en-US" dirty="0">
              <a:solidFill>
                <a:srgbClr val="169A16"/>
              </a:solidFill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format </a:t>
            </a:r>
            <a:r>
              <a:rPr lang="en-US" dirty="0" err="1"/>
              <a:t>newdob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%td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844413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7CA900-7D42-42E3-82A6-1497F815D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Date arithmetic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289E55-3481-42EB-A82C-3378E5306B3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Once dates are stored as numeric variables in Stata, we can perform date arithmetic, for example, to find the number of days between two dates</a:t>
            </a: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DDD64C-D473-4EE8-8214-27B6EFBAD17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>
                <a:solidFill>
                  <a:srgbClr val="169A1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 length of stay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gen los 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discharge_date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–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admit_date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278048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CB396-EE2F-4EAD-B5B5-C954029FFD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Functions to extract components of dates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DD5D4E-B16E-4224-B845-2B4C55770A7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At times, we will need to extract one of the components of a date, such as the year</a:t>
            </a:r>
          </a:p>
          <a:p>
            <a:r>
              <a:rPr lang="en-US" dirty="0"/>
              <a:t>Each of these functions returns a number: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year()</a:t>
            </a:r>
            <a:r>
              <a:rPr lang="en-US" dirty="0"/>
              <a:t>: numeric year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month()</a:t>
            </a:r>
            <a:r>
              <a:rPr lang="en-US" dirty="0"/>
              <a:t>: 1 to 12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day()</a:t>
            </a:r>
            <a:r>
              <a:rPr lang="en-US" dirty="0"/>
              <a:t>: day of the month</a:t>
            </a:r>
          </a:p>
          <a:p>
            <a:pPr lvl="1"/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0E92F23-ECCE-417F-8797-651B7A0FC1B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>
                <a:solidFill>
                  <a:srgbClr val="169A16"/>
                </a:solidFill>
              </a:rPr>
              <a:t>*year of birth</a:t>
            </a:r>
          </a:p>
          <a:p>
            <a:r>
              <a:rPr lang="en-US" dirty="0"/>
              <a:t>gen </a:t>
            </a:r>
            <a:r>
              <a:rPr lang="en-US" dirty="0" err="1"/>
              <a:t>yob</a:t>
            </a:r>
            <a:r>
              <a:rPr lang="en-US" dirty="0"/>
              <a:t> = year(dob)</a:t>
            </a:r>
          </a:p>
          <a:p>
            <a:endParaRPr lang="en-US" dirty="0"/>
          </a:p>
          <a:p>
            <a:r>
              <a:rPr lang="en-US" dirty="0">
                <a:solidFill>
                  <a:srgbClr val="169A16"/>
                </a:solidFill>
              </a:rPr>
              <a:t>*month of birth</a:t>
            </a:r>
          </a:p>
          <a:p>
            <a:r>
              <a:rPr lang="en-US" dirty="0"/>
              <a:t>gen mob = month(dob)</a:t>
            </a:r>
          </a:p>
        </p:txBody>
      </p:sp>
    </p:spTree>
    <p:extLst>
      <p:ext uri="{BB962C8B-B14F-4D97-AF65-F5344CB8AC3E}">
        <p14:creationId xmlns:p14="http://schemas.microsoft.com/office/powerpoint/2010/main" val="4419143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069848" y="747332"/>
            <a:ext cx="5632704" cy="491947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6600" dirty="0"/>
              <a:t>String variables</a:t>
            </a:r>
            <a:endParaRPr lang="en-US" sz="6600" dirty="0">
              <a:solidFill>
                <a:schemeClr val="tx2"/>
              </a:solidFill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0589F42-419C-40E1-B7B9-1B763E90E0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571232" y="749808"/>
            <a:ext cx="3995928" cy="4916996"/>
          </a:xfrm>
        </p:spPr>
        <p:txBody>
          <a:bodyPr/>
          <a:lstStyle/>
          <a:p>
            <a:endParaRPr lang="en-US" dirty="0"/>
          </a:p>
          <a:p>
            <a:endParaRPr lang="en-US" cap="none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cap="none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cap="none" dirty="0">
                <a:latin typeface="Courier New" panose="02070309020205020404" pitchFamily="49" charset="0"/>
                <a:cs typeface="Courier New" panose="02070309020205020404" pitchFamily="49" charset="0"/>
              </a:rPr>
              <a:t>help string functions</a:t>
            </a:r>
          </a:p>
          <a:p>
            <a:r>
              <a:rPr lang="en-US" dirty="0" err="1"/>
              <a:t>strtrim</a:t>
            </a:r>
            <a:r>
              <a:rPr lang="en-US" dirty="0"/>
              <a:t>()</a:t>
            </a:r>
          </a:p>
          <a:p>
            <a:r>
              <a:rPr lang="en-US" dirty="0" err="1"/>
              <a:t>substr</a:t>
            </a:r>
            <a:r>
              <a:rPr lang="en-US" dirty="0"/>
              <a:t>()</a:t>
            </a:r>
          </a:p>
          <a:p>
            <a:r>
              <a:rPr lang="en-US" dirty="0"/>
              <a:t>+</a:t>
            </a:r>
          </a:p>
          <a:p>
            <a:r>
              <a:rPr lang="en-US" dirty="0"/>
              <a:t>encode</a:t>
            </a:r>
          </a:p>
          <a:p>
            <a:r>
              <a:rPr lang="en-US" dirty="0"/>
              <a:t>destring</a:t>
            </a:r>
          </a:p>
        </p:txBody>
      </p:sp>
    </p:spTree>
    <p:extLst>
      <p:ext uri="{BB962C8B-B14F-4D97-AF65-F5344CB8AC3E}">
        <p14:creationId xmlns:p14="http://schemas.microsoft.com/office/powerpoint/2010/main" val="265722755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Strings in Stata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Strings are just a series of characters</a:t>
            </a:r>
          </a:p>
          <a:p>
            <a:r>
              <a:rPr lang="en-US" dirty="0"/>
              <a:t>Variables can generally be stored as either numeric or string</a:t>
            </a:r>
          </a:p>
          <a:p>
            <a:r>
              <a:rPr lang="en-US" dirty="0"/>
              <a:t>String values are surrounded by quotes when specifying a Stata command</a:t>
            </a:r>
          </a:p>
          <a:p>
            <a:pPr lvl="1"/>
            <a:r>
              <a:rPr lang="en-US" dirty="0"/>
              <a:t>String missing is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“”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Many estimation commands in Stata will not work with string variables.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1EA4D0E-6D90-44BF-A2BC-425A0FD647F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>
                <a:solidFill>
                  <a:srgbClr val="169A16"/>
                </a:solidFill>
              </a:rPr>
              <a:t>* z now missing if z was “-99”</a:t>
            </a:r>
          </a:p>
          <a:p>
            <a:r>
              <a:rPr lang="en-US" sz="1200" dirty="0"/>
              <a:t>replace z = “” if z==“-99”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73154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String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Stata provides a number of functions to clean, combine, and extract components of string variables</a:t>
            </a:r>
          </a:p>
          <a:p>
            <a:r>
              <a:rPr lang="en-US" dirty="0"/>
              <a:t>We will examine a few in detail shortly</a:t>
            </a:r>
          </a:p>
          <a:p>
            <a:r>
              <a:rPr lang="en-US" dirty="0"/>
              <a:t>Other useful functions:</a:t>
            </a:r>
          </a:p>
          <a:p>
            <a:pPr lvl="1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strlen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dirty="0"/>
              <a:t>: length of strings</a:t>
            </a:r>
          </a:p>
          <a:p>
            <a:pPr lvl="1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strpos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dirty="0"/>
              <a:t>: the position in a string where a substring is found</a:t>
            </a:r>
          </a:p>
          <a:p>
            <a:pPr lvl="1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strofreal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dirty="0"/>
              <a:t>: convert number to string with a specified format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015E71-791C-4529-8959-7B1FF0A845C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169A16"/>
                </a:solidFill>
              </a:rPr>
              <a:t>* help page for all string functions</a:t>
            </a:r>
          </a:p>
          <a:p>
            <a:r>
              <a:rPr lang="en-US" dirty="0"/>
              <a:t>help string functions</a:t>
            </a:r>
          </a:p>
        </p:txBody>
      </p:sp>
    </p:spTree>
    <p:extLst>
      <p:ext uri="{BB962C8B-B14F-4D97-AF65-F5344CB8AC3E}">
        <p14:creationId xmlns:p14="http://schemas.microsoft.com/office/powerpoint/2010/main" val="127468571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strtrim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dirty="0"/>
              <a:t>: trimming white space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String variables often arrive messy, with unnecessary spaces at the beginning or end of the string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“  May 3, 2001 “</a:t>
            </a:r>
          </a:p>
          <a:p>
            <a:r>
              <a:rPr lang="en-US" dirty="0"/>
              <a:t>Extra spaces can complicate string matching and extracting components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tab</a:t>
            </a:r>
            <a:r>
              <a:rPr lang="en-US" dirty="0"/>
              <a:t> will treat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“ UCLA” </a:t>
            </a:r>
            <a:r>
              <a:rPr lang="en-US" dirty="0"/>
              <a:t>and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“UCLA” </a:t>
            </a:r>
            <a:r>
              <a:rPr lang="en-US" dirty="0"/>
              <a:t>as separate categories</a:t>
            </a: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strtrim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en-US" dirty="0"/>
              <a:t>removes whitespace from the beginning and end of strings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3C7C88-F9D3-4CC1-98E6-943EEA16811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169A1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 some of these categories should be combined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tab hospital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169A1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 remove all leading and trailing whitespace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replace hospital 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strtrim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(hospital)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tab hospital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287084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substr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dirty="0"/>
              <a:t>: extracting a substring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substr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en-US" dirty="0"/>
              <a:t>extracts a substring from a longer string</a:t>
            </a: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substr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i="1" dirty="0">
                <a:latin typeface="Courier New" panose="02070309020205020404" pitchFamily="49" charset="0"/>
                <a:cs typeface="Courier New" panose="02070309020205020404" pitchFamily="49" charset="0"/>
              </a:rPr>
              <a:t>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i="1" dirty="0">
                <a:latin typeface="Courier New" panose="02070309020205020404" pitchFamily="49" charset="0"/>
                <a:cs typeface="Courier New" panose="02070309020205020404" pitchFamily="49" charset="0"/>
              </a:rPr>
              <a:t>n1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i="1" dirty="0">
                <a:latin typeface="Courier New" panose="02070309020205020404" pitchFamily="49" charset="0"/>
                <a:cs typeface="Courier New" panose="02070309020205020404" pitchFamily="49" charset="0"/>
              </a:rPr>
              <a:t>n2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lvl="1"/>
            <a:r>
              <a:rPr lang="en-US" i="1" dirty="0">
                <a:latin typeface="Courier New" panose="02070309020205020404" pitchFamily="49" charset="0"/>
                <a:cs typeface="Courier New" panose="02070309020205020404" pitchFamily="49" charset="0"/>
              </a:rPr>
              <a:t>s</a:t>
            </a:r>
            <a:r>
              <a:rPr lang="en-US" dirty="0"/>
              <a:t> is a string value or string variable</a:t>
            </a:r>
          </a:p>
          <a:p>
            <a:pPr lvl="1"/>
            <a:r>
              <a:rPr lang="en-US" i="1" dirty="0">
                <a:latin typeface="Courier New" panose="02070309020205020404" pitchFamily="49" charset="0"/>
                <a:cs typeface="Courier New" panose="02070309020205020404" pitchFamily="49" charset="0"/>
              </a:rPr>
              <a:t>n1</a:t>
            </a:r>
            <a:r>
              <a:rPr lang="en-US" dirty="0"/>
              <a:t> is the starting position</a:t>
            </a:r>
          </a:p>
          <a:p>
            <a:pPr lvl="2"/>
            <a:r>
              <a:rPr lang="en-US" dirty="0"/>
              <a:t>negative number counts from the end</a:t>
            </a:r>
          </a:p>
          <a:p>
            <a:pPr lvl="1"/>
            <a:r>
              <a:rPr lang="en-US" i="1" dirty="0">
                <a:latin typeface="Courier New" panose="02070309020205020404" pitchFamily="49" charset="0"/>
                <a:cs typeface="Courier New" panose="02070309020205020404" pitchFamily="49" charset="0"/>
              </a:rPr>
              <a:t>n2</a:t>
            </a:r>
            <a:r>
              <a:rPr lang="en-US" dirty="0"/>
              <a:t> is the length of the string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8D3AB2-C0CD-41B7-864A-804D8F6C047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69A1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*area code starts at 1, length=3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gen </a:t>
            </a:r>
            <a:r>
              <a:rPr lang="en-US" dirty="0" err="1">
                <a:solidFill>
                  <a:schemeClr val="tx1"/>
                </a:solidFill>
              </a:rPr>
              <a:t>areacode</a:t>
            </a:r>
            <a:r>
              <a:rPr lang="en-US" dirty="0">
                <a:solidFill>
                  <a:schemeClr val="tx1"/>
                </a:solidFill>
              </a:rPr>
              <a:t> = </a:t>
            </a:r>
            <a:r>
              <a:rPr lang="en-US" dirty="0" err="1">
                <a:solidFill>
                  <a:schemeClr val="tx1"/>
                </a:solidFill>
              </a:rPr>
              <a:t>substr</a:t>
            </a:r>
            <a:r>
              <a:rPr lang="en-US" dirty="0">
                <a:solidFill>
                  <a:schemeClr val="tx1"/>
                </a:solidFill>
              </a:rPr>
              <a:t>(phone, 1, 3)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solidFill>
                <a:srgbClr val="169A1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69A16"/>
                </a:solidFill>
              </a:rPr>
              <a:t>*extract last 5 characters as zip code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gen </a:t>
            </a:r>
            <a:r>
              <a:rPr 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zipcode</a:t>
            </a:r>
            <a:r>
              <a:rPr lang="en-US" dirty="0">
                <a:solidFill>
                  <a:schemeClr val="tx1"/>
                </a:solidFill>
              </a:rPr>
              <a:t> = </a:t>
            </a:r>
            <a:r>
              <a:rPr lang="en-US" dirty="0" err="1">
                <a:solidFill>
                  <a:schemeClr val="tx1"/>
                </a:solidFill>
              </a:rPr>
              <a:t>substr</a:t>
            </a:r>
            <a:r>
              <a:rPr lang="en-US" dirty="0">
                <a:solidFill>
                  <a:schemeClr val="tx1"/>
                </a:solidFill>
              </a:rPr>
              <a:t>(address, -5, 5)</a:t>
            </a:r>
            <a:endParaRPr lang="en-US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036121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+</a:t>
            </a:r>
            <a:r>
              <a:rPr lang="en-US" dirty="0"/>
              <a:t>: concatenating strings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Strings can be joined or concatenated together in a Stata command with a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+</a:t>
            </a:r>
          </a:p>
          <a:p>
            <a:pPr lvl="1"/>
            <a:r>
              <a:rPr lang="en-US" dirty="0"/>
              <a:t>String variables can be combined with string constants this way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A76E73-9719-40F8-9B5E-C02B9ED4659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>
                <a:solidFill>
                  <a:srgbClr val="169A16"/>
                </a:solidFill>
              </a:rPr>
              <a:t>*create full name variable: “Last, First”</a:t>
            </a:r>
          </a:p>
          <a:p>
            <a:r>
              <a:rPr lang="en-US" dirty="0"/>
              <a:t>gen </a:t>
            </a:r>
            <a:r>
              <a:rPr lang="en-US" dirty="0" err="1"/>
              <a:t>fullname</a:t>
            </a:r>
            <a:r>
              <a:rPr lang="en-US" dirty="0"/>
              <a:t> = </a:t>
            </a:r>
            <a:r>
              <a:rPr lang="en-US" dirty="0" err="1"/>
              <a:t>lastname</a:t>
            </a:r>
            <a:r>
              <a:rPr lang="en-US" dirty="0"/>
              <a:t> + “, “ + </a:t>
            </a:r>
            <a:r>
              <a:rPr lang="en-US" dirty="0" err="1"/>
              <a:t>firstname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647804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EC5298-E3F5-4378-9373-DDC8288B93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String matching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85BD31-8E7A-4A3A-8A1F-45AA0D233B0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For matching strings exactly, we can use the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==</a:t>
            </a:r>
            <a:r>
              <a:rPr lang="en-US" dirty="0"/>
              <a:t> operator</a:t>
            </a:r>
          </a:p>
          <a:p>
            <a:r>
              <a:rPr lang="en-US" dirty="0"/>
              <a:t>For more flexible pattern matching, Stata has a number of functions that use </a:t>
            </a:r>
            <a:r>
              <a:rPr lang="en-US" i="1" dirty="0"/>
              <a:t>regular expressions</a:t>
            </a:r>
          </a:p>
          <a:p>
            <a:pPr lvl="1"/>
            <a:r>
              <a:rPr lang="en-US" dirty="0"/>
              <a:t>e.g. to find strings that contain either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“US” </a:t>
            </a:r>
            <a:r>
              <a:rPr lang="en-US" dirty="0"/>
              <a:t>or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“USA” </a:t>
            </a:r>
            <a:r>
              <a:rPr lang="en-US" dirty="0"/>
              <a:t>and may or may not contain periods</a:t>
            </a:r>
          </a:p>
          <a:p>
            <a:pPr lvl="2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“US”</a:t>
            </a:r>
          </a:p>
          <a:p>
            <a:pPr lvl="2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“U.S.”</a:t>
            </a:r>
          </a:p>
          <a:p>
            <a:pPr lvl="2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“USA”</a:t>
            </a:r>
          </a:p>
          <a:p>
            <a:pPr lvl="2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“U.S.A.”</a:t>
            </a:r>
          </a:p>
          <a:p>
            <a:pPr lvl="1"/>
            <a:r>
              <a:rPr lang="en-US" dirty="0"/>
              <a:t>See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help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regexm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dirty="0"/>
              <a:t>See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help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strmatch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/>
              <a:t>Regular expressions are beyond the scope of this workshop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451588-33A8-45DA-89E2-63FE010D96E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>
                <a:solidFill>
                  <a:srgbClr val="169A16"/>
                </a:solidFill>
              </a:rPr>
              <a:t>* for regular expression functions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help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regexm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568921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Encoding strings into numeric variables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Categorical variables are often initially coded as strings</a:t>
            </a:r>
          </a:p>
          <a:p>
            <a:pPr lvl="1"/>
            <a:r>
              <a:rPr lang="en-US" dirty="0"/>
              <a:t>But most estimation commands require numeric variables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encode</a:t>
            </a:r>
            <a:r>
              <a:rPr lang="en-US" dirty="0"/>
              <a:t> converts string variables to numeric</a:t>
            </a:r>
          </a:p>
          <a:p>
            <a:pPr lvl="1"/>
            <a:r>
              <a:rPr lang="en-US" dirty="0"/>
              <a:t>assigns a numeric value to each distinct string value</a:t>
            </a:r>
          </a:p>
          <a:p>
            <a:pPr lvl="1"/>
            <a:r>
              <a:rPr lang="en-US" dirty="0"/>
              <a:t>applies value labels of the original string values </a:t>
            </a:r>
          </a:p>
          <a:p>
            <a:pPr lvl="1"/>
            <a:r>
              <a:rPr lang="en-US" dirty="0"/>
              <a:t>Use the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gen() </a:t>
            </a:r>
            <a:r>
              <a:rPr lang="en-US" dirty="0">
                <a:cs typeface="Courier New" panose="02070309020205020404" pitchFamily="49" charset="0"/>
              </a:rPr>
              <a:t>option to create a new variable</a:t>
            </a:r>
          </a:p>
          <a:p>
            <a:pPr lvl="2"/>
            <a:r>
              <a:rPr lang="en-US" dirty="0">
                <a:cs typeface="Courier New" panose="02070309020205020404" pitchFamily="49" charset="0"/>
              </a:rPr>
              <a:t>Or instead use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replace</a:t>
            </a:r>
            <a:r>
              <a:rPr lang="en-US" dirty="0">
                <a:cs typeface="Courier New" panose="02070309020205020404" pitchFamily="49" charset="0"/>
              </a:rPr>
              <a:t> to overwrite the original string variable</a:t>
            </a:r>
            <a:r>
              <a:rPr lang="en-US" dirty="0"/>
              <a:t> </a:t>
            </a:r>
          </a:p>
          <a:p>
            <a:r>
              <a:rPr lang="en-US" dirty="0"/>
              <a:t>The ordering of the categories is alphabetical</a:t>
            </a:r>
          </a:p>
          <a:p>
            <a:r>
              <a:rPr lang="en-US" dirty="0"/>
              <a:t>Remember, when browsing, string variables will appear red while numeric variables with labels will appear blue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F06D22-1CFC-411E-A692-329BD9751B3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>
                <a:solidFill>
                  <a:srgbClr val="169A16"/>
                </a:solidFill>
              </a:rPr>
              <a:t>* convert hospital to numeric, generate new variable</a:t>
            </a:r>
          </a:p>
          <a:p>
            <a:r>
              <a:rPr lang="en-US" dirty="0"/>
              <a:t>encode hospital, gen(</a:t>
            </a:r>
            <a:r>
              <a:rPr lang="en-US" dirty="0" err="1"/>
              <a:t>hospnum</a:t>
            </a:r>
            <a:r>
              <a:rPr lang="en-US" dirty="0"/>
              <a:t>)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126970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Convert number variables stored as strings to numeric with </a:t>
            </a:r>
            <a:r>
              <a:rPr lang="en-US" cap="none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destring</a:t>
            </a:r>
            <a:endParaRPr lang="en-US" cap="none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Sometimes, variables with number values are loaded as strings into Stata. </a:t>
            </a:r>
          </a:p>
          <a:p>
            <a:r>
              <a:rPr lang="en-US" dirty="0"/>
              <a:t>This can happen can a character value is mistakenly entered, or a non-numeric code (e.g.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“NA”</a:t>
            </a:r>
            <a:r>
              <a:rPr lang="en-US" dirty="0"/>
              <a:t>) is used for missing.</a:t>
            </a:r>
          </a:p>
          <a:p>
            <a:pPr lvl="1"/>
            <a:r>
              <a:rPr lang="en-US" dirty="0"/>
              <a:t>Or the variable was saved as a string in other software (e.g. Excel)</a:t>
            </a:r>
          </a:p>
          <a:p>
            <a:r>
              <a:rPr lang="en-US" dirty="0"/>
              <a:t>We do not want to use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encode</a:t>
            </a:r>
            <a:r>
              <a:rPr lang="en-US" dirty="0"/>
              <a:t> here, because the variable values are truly numbers rather than categories </a:t>
            </a:r>
          </a:p>
          <a:p>
            <a:pPr lvl="1"/>
            <a:r>
              <a:rPr lang="en-US" dirty="0"/>
              <a:t>we would not want the “1.25” converted to a category.</a:t>
            </a:r>
          </a:p>
          <a:p>
            <a:r>
              <a:rPr lang="en-US" dirty="0"/>
              <a:t>Instead, we can use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destring</a:t>
            </a:r>
            <a:r>
              <a:rPr lang="en-US" dirty="0"/>
              <a:t>, which directly translates numbers stored as strings into the numbers themselves.</a:t>
            </a: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FCB9BE-D163-44DB-A8B2-06EF715FD4B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>
                <a:solidFill>
                  <a:srgbClr val="169A16"/>
                </a:solidFill>
              </a:rPr>
              <a:t>*convert string </a:t>
            </a:r>
            <a:r>
              <a:rPr lang="en-US" dirty="0" err="1">
                <a:solidFill>
                  <a:srgbClr val="169A16"/>
                </a:solidFill>
              </a:rPr>
              <a:t>wbc</a:t>
            </a:r>
            <a:r>
              <a:rPr lang="en-US" dirty="0">
                <a:solidFill>
                  <a:srgbClr val="169A16"/>
                </a:solidFill>
              </a:rPr>
              <a:t> to numeric and overwrite</a:t>
            </a:r>
            <a:endParaRPr lang="en-US" dirty="0">
              <a:solidFill>
                <a:srgbClr val="169A1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destring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wbc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replace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006599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069848" y="747332"/>
            <a:ext cx="5632704" cy="491947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6600" dirty="0"/>
              <a:t>Appending data sets</a:t>
            </a:r>
            <a:endParaRPr lang="en-US" sz="6600" dirty="0">
              <a:solidFill>
                <a:schemeClr val="tx2"/>
              </a:solidFill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0589F42-419C-40E1-B7B9-1B763E90E0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571232" y="749808"/>
            <a:ext cx="3995928" cy="4916996"/>
          </a:xfrm>
        </p:spPr>
        <p:txBody>
          <a:bodyPr/>
          <a:lstStyle/>
          <a:p>
            <a:endParaRPr lang="en-US" dirty="0"/>
          </a:p>
          <a:p>
            <a:endParaRPr lang="en-US" cap="none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cap="none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dirty="0"/>
          </a:p>
          <a:p>
            <a:endParaRPr lang="en-US" cap="none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/>
              <a:t>append</a:t>
            </a:r>
            <a:endParaRPr lang="en-US" cap="none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73830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Appending: adding observations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often wish to combine data sets that are split into multiple files that have the same variables (more or less)</a:t>
            </a:r>
          </a:p>
          <a:p>
            <a:pPr lvl="1"/>
            <a:r>
              <a:rPr lang="en-US" dirty="0"/>
              <a:t>Data collected over several waves of time</a:t>
            </a:r>
          </a:p>
          <a:p>
            <a:pPr lvl="1"/>
            <a:r>
              <a:rPr lang="en-US" dirty="0"/>
              <a:t>Data collected from different labs/sources</a:t>
            </a:r>
          </a:p>
        </p:txBody>
      </p:sp>
      <p:graphicFrame>
        <p:nvGraphicFramePr>
          <p:cNvPr id="8" name="Table 8">
            <a:extLst>
              <a:ext uri="{FF2B5EF4-FFF2-40B4-BE49-F238E27FC236}">
                <a16:creationId xmlns:a16="http://schemas.microsoft.com/office/drawing/2014/main" id="{6A1A8464-3661-42B8-942F-07D95EC2B596}"/>
              </a:ext>
            </a:extLst>
          </p:cNvPr>
          <p:cNvGraphicFramePr>
            <a:graphicFrameLocks noGrp="1"/>
          </p:cNvGraphicFramePr>
          <p:nvPr>
            <p:ph sz="half" idx="4294967295"/>
            <p:extLst>
              <p:ext uri="{D42A27DB-BD31-4B8C-83A1-F6EECF244321}">
                <p14:modId xmlns:p14="http://schemas.microsoft.com/office/powerpoint/2010/main" val="3072932514"/>
              </p:ext>
            </p:extLst>
          </p:nvPr>
        </p:nvGraphicFramePr>
        <p:xfrm>
          <a:off x="1869149" y="3269034"/>
          <a:ext cx="3353599" cy="109728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593622">
                  <a:extLst>
                    <a:ext uri="{9D8B030D-6E8A-4147-A177-3AD203B41FA5}">
                      <a16:colId xmlns:a16="http://schemas.microsoft.com/office/drawing/2014/main" val="2808929865"/>
                    </a:ext>
                  </a:extLst>
                </a:gridCol>
                <a:gridCol w="1140903">
                  <a:extLst>
                    <a:ext uri="{9D8B030D-6E8A-4147-A177-3AD203B41FA5}">
                      <a16:colId xmlns:a16="http://schemas.microsoft.com/office/drawing/2014/main" val="1630882493"/>
                    </a:ext>
                  </a:extLst>
                </a:gridCol>
                <a:gridCol w="746620">
                  <a:extLst>
                    <a:ext uri="{9D8B030D-6E8A-4147-A177-3AD203B41FA5}">
                      <a16:colId xmlns:a16="http://schemas.microsoft.com/office/drawing/2014/main" val="313183231"/>
                    </a:ext>
                  </a:extLst>
                </a:gridCol>
                <a:gridCol w="872454">
                  <a:extLst>
                    <a:ext uri="{9D8B030D-6E8A-4147-A177-3AD203B41FA5}">
                      <a16:colId xmlns:a16="http://schemas.microsoft.com/office/drawing/2014/main" val="1378938224"/>
                    </a:ext>
                  </a:extLst>
                </a:gridCol>
              </a:tblGrid>
              <a:tr h="255693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DOB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Weight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Insured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8777872"/>
                  </a:ext>
                </a:extLst>
              </a:tr>
              <a:tr h="255693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3-3-1981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5859145"/>
                  </a:ext>
                </a:extLst>
              </a:tr>
              <a:tr h="255693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2-14-1975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7003230"/>
                  </a:ext>
                </a:extLst>
              </a:tr>
              <a:tr h="255693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12-10-1990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5683422"/>
                  </a:ext>
                </a:extLst>
              </a:tr>
            </a:tbl>
          </a:graphicData>
        </a:graphic>
      </p:graphicFrame>
      <p:graphicFrame>
        <p:nvGraphicFramePr>
          <p:cNvPr id="10" name="Table 8">
            <a:extLst>
              <a:ext uri="{FF2B5EF4-FFF2-40B4-BE49-F238E27FC236}">
                <a16:creationId xmlns:a16="http://schemas.microsoft.com/office/drawing/2014/main" id="{0F5AE21E-9F4A-4191-8FEE-BD1E29564D9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10909549"/>
              </p:ext>
            </p:extLst>
          </p:nvPr>
        </p:nvGraphicFramePr>
        <p:xfrm>
          <a:off x="1869149" y="4811662"/>
          <a:ext cx="3353599" cy="109728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593622">
                  <a:extLst>
                    <a:ext uri="{9D8B030D-6E8A-4147-A177-3AD203B41FA5}">
                      <a16:colId xmlns:a16="http://schemas.microsoft.com/office/drawing/2014/main" val="2808929865"/>
                    </a:ext>
                  </a:extLst>
                </a:gridCol>
                <a:gridCol w="1140903">
                  <a:extLst>
                    <a:ext uri="{9D8B030D-6E8A-4147-A177-3AD203B41FA5}">
                      <a16:colId xmlns:a16="http://schemas.microsoft.com/office/drawing/2014/main" val="1630882493"/>
                    </a:ext>
                  </a:extLst>
                </a:gridCol>
                <a:gridCol w="746620">
                  <a:extLst>
                    <a:ext uri="{9D8B030D-6E8A-4147-A177-3AD203B41FA5}">
                      <a16:colId xmlns:a16="http://schemas.microsoft.com/office/drawing/2014/main" val="313183231"/>
                    </a:ext>
                  </a:extLst>
                </a:gridCol>
                <a:gridCol w="872454">
                  <a:extLst>
                    <a:ext uri="{9D8B030D-6E8A-4147-A177-3AD203B41FA5}">
                      <a16:colId xmlns:a16="http://schemas.microsoft.com/office/drawing/2014/main" val="137893822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DOB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Weight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Insured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8777872"/>
                  </a:ext>
                </a:extLst>
              </a:tr>
              <a:tr h="255693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4-29-1970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5859145"/>
                  </a:ext>
                </a:extLst>
              </a:tr>
              <a:tr h="255693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12-15-1963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7003230"/>
                  </a:ext>
                </a:extLst>
              </a:tr>
              <a:tr h="255693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1-10-1962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5683422"/>
                  </a:ext>
                </a:extLst>
              </a:tr>
            </a:tbl>
          </a:graphicData>
        </a:graphic>
      </p:graphicFrame>
      <p:graphicFrame>
        <p:nvGraphicFramePr>
          <p:cNvPr id="11" name="Table 8">
            <a:extLst>
              <a:ext uri="{FF2B5EF4-FFF2-40B4-BE49-F238E27FC236}">
                <a16:creationId xmlns:a16="http://schemas.microsoft.com/office/drawing/2014/main" id="{2FBDAAC8-F41C-4718-BE5D-C9D2100C1E0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76909595"/>
              </p:ext>
            </p:extLst>
          </p:nvPr>
        </p:nvGraphicFramePr>
        <p:xfrm>
          <a:off x="6985835" y="3563224"/>
          <a:ext cx="3353599" cy="192024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593622">
                  <a:extLst>
                    <a:ext uri="{9D8B030D-6E8A-4147-A177-3AD203B41FA5}">
                      <a16:colId xmlns:a16="http://schemas.microsoft.com/office/drawing/2014/main" val="2808929865"/>
                    </a:ext>
                  </a:extLst>
                </a:gridCol>
                <a:gridCol w="1140903">
                  <a:extLst>
                    <a:ext uri="{9D8B030D-6E8A-4147-A177-3AD203B41FA5}">
                      <a16:colId xmlns:a16="http://schemas.microsoft.com/office/drawing/2014/main" val="1630882493"/>
                    </a:ext>
                  </a:extLst>
                </a:gridCol>
                <a:gridCol w="746620">
                  <a:extLst>
                    <a:ext uri="{9D8B030D-6E8A-4147-A177-3AD203B41FA5}">
                      <a16:colId xmlns:a16="http://schemas.microsoft.com/office/drawing/2014/main" val="313183231"/>
                    </a:ext>
                  </a:extLst>
                </a:gridCol>
                <a:gridCol w="872454">
                  <a:extLst>
                    <a:ext uri="{9D8B030D-6E8A-4147-A177-3AD203B41FA5}">
                      <a16:colId xmlns:a16="http://schemas.microsoft.com/office/drawing/2014/main" val="137893822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DOB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Weight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Insured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8777872"/>
                  </a:ext>
                </a:extLst>
              </a:tr>
              <a:tr h="255693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3-3-1981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5859145"/>
                  </a:ext>
                </a:extLst>
              </a:tr>
              <a:tr h="255693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2-14-1975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7003230"/>
                  </a:ext>
                </a:extLst>
              </a:tr>
              <a:tr h="255693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12-10-1990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5683422"/>
                  </a:ext>
                </a:extLst>
              </a:tr>
              <a:tr h="255693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4-29-1970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2545508"/>
                  </a:ext>
                </a:extLst>
              </a:tr>
              <a:tr h="255693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12-15-1963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6551637"/>
                  </a:ext>
                </a:extLst>
              </a:tr>
              <a:tr h="255693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1-10-1962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3285432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935115D5-4349-40E9-A61B-DBBF3192EA46}"/>
              </a:ext>
            </a:extLst>
          </p:cNvPr>
          <p:cNvSpPr txBox="1"/>
          <p:nvPr/>
        </p:nvSpPr>
        <p:spPr>
          <a:xfrm>
            <a:off x="345205" y="3638725"/>
            <a:ext cx="11492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Loaded in Stata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6499EF0-F01A-4245-99F4-4571CDCA6EC9}"/>
              </a:ext>
            </a:extLst>
          </p:cNvPr>
          <p:cNvSpPr txBox="1"/>
          <p:nvPr/>
        </p:nvSpPr>
        <p:spPr>
          <a:xfrm>
            <a:off x="412960" y="5037136"/>
            <a:ext cx="11492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On hard drive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B1F343E0-7F15-4F0D-B9B6-4660F7111BE2}"/>
              </a:ext>
            </a:extLst>
          </p:cNvPr>
          <p:cNvCxnSpPr/>
          <p:nvPr/>
        </p:nvCxnSpPr>
        <p:spPr>
          <a:xfrm>
            <a:off x="1036320" y="4018327"/>
            <a:ext cx="81624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3D795DD0-B5D3-42CD-BE51-FA334A32CDFE}"/>
              </a:ext>
            </a:extLst>
          </p:cNvPr>
          <p:cNvCxnSpPr/>
          <p:nvPr/>
        </p:nvCxnSpPr>
        <p:spPr>
          <a:xfrm>
            <a:off x="1036320" y="5459696"/>
            <a:ext cx="81624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20DF01BA-8CD9-42E9-97B1-249D19D48122}"/>
              </a:ext>
            </a:extLst>
          </p:cNvPr>
          <p:cNvSpPr txBox="1"/>
          <p:nvPr/>
        </p:nvSpPr>
        <p:spPr>
          <a:xfrm>
            <a:off x="6044885" y="4292511"/>
            <a:ext cx="2494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=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BF92A02-F2BA-46B1-B66E-E1CE17C02EE5}"/>
              </a:ext>
            </a:extLst>
          </p:cNvPr>
          <p:cNvSpPr txBox="1"/>
          <p:nvPr/>
        </p:nvSpPr>
        <p:spPr>
          <a:xfrm>
            <a:off x="3321675" y="4366314"/>
            <a:ext cx="2494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+</a:t>
            </a:r>
          </a:p>
        </p:txBody>
      </p:sp>
    </p:spTree>
    <p:extLst>
      <p:ext uri="{BB962C8B-B14F-4D97-AF65-F5344CB8AC3E}">
        <p14:creationId xmlns:p14="http://schemas.microsoft.com/office/powerpoint/2010/main" val="363252465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cap="none" dirty="0">
                <a:latin typeface="Courier New" panose="02070309020205020404" pitchFamily="49" charset="0"/>
                <a:cs typeface="Courier New" panose="02070309020205020404" pitchFamily="49" charset="0"/>
              </a:rPr>
              <a:t>append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With Stata’s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append</a:t>
            </a:r>
            <a:r>
              <a:rPr lang="en-US" dirty="0"/>
              <a:t>, data set files stored on hard drives are appended to the data set currently loaded in Stata (the </a:t>
            </a:r>
            <a:r>
              <a:rPr lang="en-US" i="1" dirty="0"/>
              <a:t>master</a:t>
            </a:r>
            <a:r>
              <a:rPr lang="en-US" dirty="0"/>
              <a:t> data set)</a:t>
            </a:r>
          </a:p>
          <a:p>
            <a:r>
              <a:rPr lang="en-US" dirty="0"/>
              <a:t>Syntax: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append using </a:t>
            </a:r>
            <a:r>
              <a:rPr lang="en-US" i="1" dirty="0">
                <a:latin typeface="Courier New" panose="02070309020205020404" pitchFamily="49" charset="0"/>
                <a:cs typeface="Courier New" panose="02070309020205020404" pitchFamily="49" charset="0"/>
              </a:rPr>
              <a:t>filename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[</a:t>
            </a:r>
            <a:r>
              <a:rPr lang="en-US" i="1" dirty="0">
                <a:latin typeface="Courier New" panose="02070309020205020404" pitchFamily="49" charset="0"/>
                <a:cs typeface="Courier New" panose="02070309020205020404" pitchFamily="49" charset="0"/>
              </a:rPr>
              <a:t>filename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…] </a:t>
            </a:r>
          </a:p>
          <a:p>
            <a:r>
              <a:rPr lang="en-US" dirty="0"/>
              <a:t>Multiple </a:t>
            </a:r>
            <a:r>
              <a:rPr lang="en-US" i="1" dirty="0">
                <a:latin typeface="Courier New" panose="02070309020205020404" pitchFamily="49" charset="0"/>
                <a:cs typeface="Courier New" panose="02070309020205020404" pitchFamily="49" charset="0"/>
              </a:rPr>
              <a:t>filename</a:t>
            </a:r>
            <a:r>
              <a:rPr lang="en-US" dirty="0"/>
              <a:t>s can be appended to the master data set </a:t>
            </a:r>
          </a:p>
          <a:p>
            <a:r>
              <a:rPr lang="en-US" dirty="0"/>
              <a:t>Variables with the same name should have the same type (string, float, etc.)</a:t>
            </a:r>
          </a:p>
          <a:p>
            <a:pPr lvl="1"/>
            <a:r>
              <a:rPr lang="en-US" dirty="0"/>
              <a:t>use the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force</a:t>
            </a:r>
            <a:r>
              <a:rPr lang="en-US" dirty="0"/>
              <a:t> option for mismatches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540B63-A056-425C-8927-9798D906638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69A16"/>
                </a:solidFill>
              </a:rPr>
              <a:t>*append data set data2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append using data2</a:t>
            </a:r>
          </a:p>
          <a:p>
            <a:pPr marL="0" indent="0">
              <a:buNone/>
            </a:pPr>
            <a:endParaRPr lang="en-US" dirty="0">
              <a:solidFill>
                <a:srgbClr val="169A16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rgbClr val="169A16"/>
                </a:solidFill>
              </a:rPr>
              <a:t>*gen() option creates new variable source</a:t>
            </a:r>
          </a:p>
          <a:p>
            <a:pPr marL="0" indent="0">
              <a:buNone/>
            </a:pPr>
            <a:r>
              <a:rPr lang="en-US" dirty="0">
                <a:solidFill>
                  <a:srgbClr val="169A16"/>
                </a:solidFill>
              </a:rPr>
              <a:t>*  source=1 if </a:t>
            </a:r>
            <a:r>
              <a:rPr lang="en-US" dirty="0" err="1">
                <a:solidFill>
                  <a:srgbClr val="169A16"/>
                </a:solidFill>
              </a:rPr>
              <a:t>obs</a:t>
            </a:r>
            <a:r>
              <a:rPr lang="en-US" dirty="0">
                <a:solidFill>
                  <a:srgbClr val="169A16"/>
                </a:solidFill>
              </a:rPr>
              <a:t> comes from 1st data set</a:t>
            </a:r>
          </a:p>
          <a:p>
            <a:pPr marL="0" indent="0">
              <a:buNone/>
            </a:pPr>
            <a:r>
              <a:rPr lang="en-US" dirty="0">
                <a:solidFill>
                  <a:srgbClr val="169A16"/>
                </a:solidFill>
              </a:rPr>
              <a:t>*  source=2 if </a:t>
            </a:r>
            <a:r>
              <a:rPr lang="en-US" dirty="0" err="1">
                <a:solidFill>
                  <a:srgbClr val="169A16"/>
                </a:solidFill>
              </a:rPr>
              <a:t>obs</a:t>
            </a:r>
            <a:r>
              <a:rPr lang="en-US" dirty="0">
                <a:solidFill>
                  <a:srgbClr val="169A16"/>
                </a:solidFill>
              </a:rPr>
              <a:t> comes from 2nd data set</a:t>
            </a: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append using data2, gen(source)</a:t>
            </a:r>
          </a:p>
        </p:txBody>
      </p:sp>
    </p:spTree>
    <p:extLst>
      <p:ext uri="{BB962C8B-B14F-4D97-AF65-F5344CB8AC3E}">
        <p14:creationId xmlns:p14="http://schemas.microsoft.com/office/powerpoint/2010/main" val="369521203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Unshared variables will have missing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Variables that do not appear in all datasets will have missing values where they were omitted</a:t>
            </a:r>
          </a:p>
        </p:txBody>
      </p:sp>
      <p:graphicFrame>
        <p:nvGraphicFramePr>
          <p:cNvPr id="4" name="Table 8">
            <a:extLst>
              <a:ext uri="{FF2B5EF4-FFF2-40B4-BE49-F238E27FC236}">
                <a16:creationId xmlns:a16="http://schemas.microsoft.com/office/drawing/2014/main" id="{31C25D83-FAF5-4F79-B8C7-179EB33CD43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26020594"/>
              </p:ext>
            </p:extLst>
          </p:nvPr>
        </p:nvGraphicFramePr>
        <p:xfrm>
          <a:off x="1919483" y="2732139"/>
          <a:ext cx="3353599" cy="109728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593622">
                  <a:extLst>
                    <a:ext uri="{9D8B030D-6E8A-4147-A177-3AD203B41FA5}">
                      <a16:colId xmlns:a16="http://schemas.microsoft.com/office/drawing/2014/main" val="2808929865"/>
                    </a:ext>
                  </a:extLst>
                </a:gridCol>
                <a:gridCol w="1140903">
                  <a:extLst>
                    <a:ext uri="{9D8B030D-6E8A-4147-A177-3AD203B41FA5}">
                      <a16:colId xmlns:a16="http://schemas.microsoft.com/office/drawing/2014/main" val="1630882493"/>
                    </a:ext>
                  </a:extLst>
                </a:gridCol>
                <a:gridCol w="746620">
                  <a:extLst>
                    <a:ext uri="{9D8B030D-6E8A-4147-A177-3AD203B41FA5}">
                      <a16:colId xmlns:a16="http://schemas.microsoft.com/office/drawing/2014/main" val="313183231"/>
                    </a:ext>
                  </a:extLst>
                </a:gridCol>
                <a:gridCol w="872454">
                  <a:extLst>
                    <a:ext uri="{9D8B030D-6E8A-4147-A177-3AD203B41FA5}">
                      <a16:colId xmlns:a16="http://schemas.microsoft.com/office/drawing/2014/main" val="1378938224"/>
                    </a:ext>
                  </a:extLst>
                </a:gridCol>
              </a:tblGrid>
              <a:tr h="255693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DOB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Weight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Insured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8777872"/>
                  </a:ext>
                </a:extLst>
              </a:tr>
              <a:tr h="255693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3-3-1981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5859145"/>
                  </a:ext>
                </a:extLst>
              </a:tr>
              <a:tr h="255693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2-14-1975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7003230"/>
                  </a:ext>
                </a:extLst>
              </a:tr>
              <a:tr h="255693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12-10-1990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5683422"/>
                  </a:ext>
                </a:extLst>
              </a:tr>
            </a:tbl>
          </a:graphicData>
        </a:graphic>
      </p:graphicFrame>
      <p:graphicFrame>
        <p:nvGraphicFramePr>
          <p:cNvPr id="5" name="Table 8">
            <a:extLst>
              <a:ext uri="{FF2B5EF4-FFF2-40B4-BE49-F238E27FC236}">
                <a16:creationId xmlns:a16="http://schemas.microsoft.com/office/drawing/2014/main" id="{865233A8-7A2B-4B45-8B57-5F84CE7B5ED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82778990"/>
              </p:ext>
            </p:extLst>
          </p:nvPr>
        </p:nvGraphicFramePr>
        <p:xfrm>
          <a:off x="1919483" y="4274767"/>
          <a:ext cx="2481145" cy="109728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593622">
                  <a:extLst>
                    <a:ext uri="{9D8B030D-6E8A-4147-A177-3AD203B41FA5}">
                      <a16:colId xmlns:a16="http://schemas.microsoft.com/office/drawing/2014/main" val="2808929865"/>
                    </a:ext>
                  </a:extLst>
                </a:gridCol>
                <a:gridCol w="1140903">
                  <a:extLst>
                    <a:ext uri="{9D8B030D-6E8A-4147-A177-3AD203B41FA5}">
                      <a16:colId xmlns:a16="http://schemas.microsoft.com/office/drawing/2014/main" val="1630882493"/>
                    </a:ext>
                  </a:extLst>
                </a:gridCol>
                <a:gridCol w="746620">
                  <a:extLst>
                    <a:ext uri="{9D8B030D-6E8A-4147-A177-3AD203B41FA5}">
                      <a16:colId xmlns:a16="http://schemas.microsoft.com/office/drawing/2014/main" val="31318323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DOB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Weight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8777872"/>
                  </a:ext>
                </a:extLst>
              </a:tr>
              <a:tr h="255693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5-29-1974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203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5859145"/>
                  </a:ext>
                </a:extLst>
              </a:tr>
              <a:tr h="255693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1-5-1959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7003230"/>
                  </a:ext>
                </a:extLst>
              </a:tr>
              <a:tr h="255693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7-24-1969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165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5683422"/>
                  </a:ext>
                </a:extLst>
              </a:tr>
            </a:tbl>
          </a:graphicData>
        </a:graphic>
      </p:graphicFrame>
      <p:graphicFrame>
        <p:nvGraphicFramePr>
          <p:cNvPr id="6" name="Table 8">
            <a:extLst>
              <a:ext uri="{FF2B5EF4-FFF2-40B4-BE49-F238E27FC236}">
                <a16:creationId xmlns:a16="http://schemas.microsoft.com/office/drawing/2014/main" id="{A3D71131-FC43-4F33-BA1B-789661464E4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63692879"/>
              </p:ext>
            </p:extLst>
          </p:nvPr>
        </p:nvGraphicFramePr>
        <p:xfrm>
          <a:off x="7036169" y="3026329"/>
          <a:ext cx="3353599" cy="192024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593622">
                  <a:extLst>
                    <a:ext uri="{9D8B030D-6E8A-4147-A177-3AD203B41FA5}">
                      <a16:colId xmlns:a16="http://schemas.microsoft.com/office/drawing/2014/main" val="2808929865"/>
                    </a:ext>
                  </a:extLst>
                </a:gridCol>
                <a:gridCol w="1140903">
                  <a:extLst>
                    <a:ext uri="{9D8B030D-6E8A-4147-A177-3AD203B41FA5}">
                      <a16:colId xmlns:a16="http://schemas.microsoft.com/office/drawing/2014/main" val="1630882493"/>
                    </a:ext>
                  </a:extLst>
                </a:gridCol>
                <a:gridCol w="746620">
                  <a:extLst>
                    <a:ext uri="{9D8B030D-6E8A-4147-A177-3AD203B41FA5}">
                      <a16:colId xmlns:a16="http://schemas.microsoft.com/office/drawing/2014/main" val="313183231"/>
                    </a:ext>
                  </a:extLst>
                </a:gridCol>
                <a:gridCol w="872454">
                  <a:extLst>
                    <a:ext uri="{9D8B030D-6E8A-4147-A177-3AD203B41FA5}">
                      <a16:colId xmlns:a16="http://schemas.microsoft.com/office/drawing/2014/main" val="137893822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DOB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Weight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Insured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8777872"/>
                  </a:ext>
                </a:extLst>
              </a:tr>
              <a:tr h="255693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3-3-1981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5859145"/>
                  </a:ext>
                </a:extLst>
              </a:tr>
              <a:tr h="255693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2-14-1975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7003230"/>
                  </a:ext>
                </a:extLst>
              </a:tr>
              <a:tr h="255693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12-10-1990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5683422"/>
                  </a:ext>
                </a:extLst>
              </a:tr>
              <a:tr h="255693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5-29-1974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2545508"/>
                  </a:ext>
                </a:extLst>
              </a:tr>
              <a:tr h="255693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1-5-1959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6551637"/>
                  </a:ext>
                </a:extLst>
              </a:tr>
              <a:tr h="255693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7-24-1969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3285432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EE1E530B-B7E0-4FBE-B4BB-9518B270CB39}"/>
              </a:ext>
            </a:extLst>
          </p:cNvPr>
          <p:cNvSpPr txBox="1"/>
          <p:nvPr/>
        </p:nvSpPr>
        <p:spPr>
          <a:xfrm>
            <a:off x="3346874" y="3798835"/>
            <a:ext cx="2494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+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0F6CC11-0149-4CC1-A1A5-09B0F4D0923A}"/>
              </a:ext>
            </a:extLst>
          </p:cNvPr>
          <p:cNvSpPr txBox="1"/>
          <p:nvPr/>
        </p:nvSpPr>
        <p:spPr>
          <a:xfrm>
            <a:off x="5982415" y="3755616"/>
            <a:ext cx="2494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=</a:t>
            </a:r>
          </a:p>
        </p:txBody>
      </p:sp>
    </p:spTree>
    <p:extLst>
      <p:ext uri="{BB962C8B-B14F-4D97-AF65-F5344CB8AC3E}">
        <p14:creationId xmlns:p14="http://schemas.microsoft.com/office/powerpoint/2010/main" val="342084183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069848" y="747332"/>
            <a:ext cx="5632704" cy="491947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6600" dirty="0"/>
              <a:t>Merging data sets</a:t>
            </a:r>
            <a:endParaRPr lang="en-US" sz="6600" dirty="0">
              <a:solidFill>
                <a:schemeClr val="tx2"/>
              </a:solidFill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0589F42-419C-40E1-B7B9-1B763E90E0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571232" y="749808"/>
            <a:ext cx="3995928" cy="4916996"/>
          </a:xfrm>
        </p:spPr>
        <p:txBody>
          <a:bodyPr/>
          <a:lstStyle/>
          <a:p>
            <a:endParaRPr lang="en-US" dirty="0"/>
          </a:p>
          <a:p>
            <a:endParaRPr lang="en-US" cap="none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cap="none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dirty="0"/>
          </a:p>
          <a:p>
            <a:endParaRPr lang="en-US" cap="none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/>
              <a:t>merge</a:t>
            </a:r>
            <a:endParaRPr lang="en-US" cap="none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111115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One-to-one merging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When we merge datasets, we add more columns of variables.</a:t>
            </a:r>
          </a:p>
          <a:p>
            <a:r>
              <a:rPr lang="en-US" dirty="0"/>
              <a:t>Datasets to be merged should generally be matched on an id variables that appears in both datasets</a:t>
            </a:r>
          </a:p>
          <a:p>
            <a:r>
              <a:rPr lang="en-US" dirty="0"/>
              <a:t>In the most basic merge, each id appears once in each file</a:t>
            </a:r>
          </a:p>
        </p:txBody>
      </p:sp>
      <p:graphicFrame>
        <p:nvGraphicFramePr>
          <p:cNvPr id="6" name="Table 8">
            <a:extLst>
              <a:ext uri="{FF2B5EF4-FFF2-40B4-BE49-F238E27FC236}">
                <a16:creationId xmlns:a16="http://schemas.microsoft.com/office/drawing/2014/main" id="{52359E27-C529-4465-9E67-B572E19A3B7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71570341"/>
              </p:ext>
            </p:extLst>
          </p:nvPr>
        </p:nvGraphicFramePr>
        <p:xfrm>
          <a:off x="837222" y="3638150"/>
          <a:ext cx="3353599" cy="109728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593622">
                  <a:extLst>
                    <a:ext uri="{9D8B030D-6E8A-4147-A177-3AD203B41FA5}">
                      <a16:colId xmlns:a16="http://schemas.microsoft.com/office/drawing/2014/main" val="2808929865"/>
                    </a:ext>
                  </a:extLst>
                </a:gridCol>
                <a:gridCol w="1140903">
                  <a:extLst>
                    <a:ext uri="{9D8B030D-6E8A-4147-A177-3AD203B41FA5}">
                      <a16:colId xmlns:a16="http://schemas.microsoft.com/office/drawing/2014/main" val="1630882493"/>
                    </a:ext>
                  </a:extLst>
                </a:gridCol>
                <a:gridCol w="746620">
                  <a:extLst>
                    <a:ext uri="{9D8B030D-6E8A-4147-A177-3AD203B41FA5}">
                      <a16:colId xmlns:a16="http://schemas.microsoft.com/office/drawing/2014/main" val="313183231"/>
                    </a:ext>
                  </a:extLst>
                </a:gridCol>
                <a:gridCol w="872454">
                  <a:extLst>
                    <a:ext uri="{9D8B030D-6E8A-4147-A177-3AD203B41FA5}">
                      <a16:colId xmlns:a16="http://schemas.microsoft.com/office/drawing/2014/main" val="1378938224"/>
                    </a:ext>
                  </a:extLst>
                </a:gridCol>
              </a:tblGrid>
              <a:tr h="255693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DOB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Weight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Insured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8777872"/>
                  </a:ext>
                </a:extLst>
              </a:tr>
              <a:tr h="255693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3-3-1981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5859145"/>
                  </a:ext>
                </a:extLst>
              </a:tr>
              <a:tr h="255693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2-14-1975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7003230"/>
                  </a:ext>
                </a:extLst>
              </a:tr>
              <a:tr h="255693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12-10-1990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5683422"/>
                  </a:ext>
                </a:extLst>
              </a:tr>
            </a:tbl>
          </a:graphicData>
        </a:graphic>
      </p:graphicFrame>
      <p:graphicFrame>
        <p:nvGraphicFramePr>
          <p:cNvPr id="7" name="Table 8">
            <a:extLst>
              <a:ext uri="{FF2B5EF4-FFF2-40B4-BE49-F238E27FC236}">
                <a16:creationId xmlns:a16="http://schemas.microsoft.com/office/drawing/2014/main" id="{9B7833A5-94C5-4E75-B8E2-B952D9F5361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5748246"/>
              </p:ext>
            </p:extLst>
          </p:nvPr>
        </p:nvGraphicFramePr>
        <p:xfrm>
          <a:off x="4512998" y="3638150"/>
          <a:ext cx="1837469" cy="109728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593622">
                  <a:extLst>
                    <a:ext uri="{9D8B030D-6E8A-4147-A177-3AD203B41FA5}">
                      <a16:colId xmlns:a16="http://schemas.microsoft.com/office/drawing/2014/main" val="2808929865"/>
                    </a:ext>
                  </a:extLst>
                </a:gridCol>
                <a:gridCol w="774063">
                  <a:extLst>
                    <a:ext uri="{9D8B030D-6E8A-4147-A177-3AD203B41FA5}">
                      <a16:colId xmlns:a16="http://schemas.microsoft.com/office/drawing/2014/main" val="1630882493"/>
                    </a:ext>
                  </a:extLst>
                </a:gridCol>
                <a:gridCol w="469784">
                  <a:extLst>
                    <a:ext uri="{9D8B030D-6E8A-4147-A177-3AD203B41FA5}">
                      <a16:colId xmlns:a16="http://schemas.microsoft.com/office/drawing/2014/main" val="313183231"/>
                    </a:ext>
                  </a:extLst>
                </a:gridCol>
              </a:tblGrid>
              <a:tr h="255693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Doc_ID</a:t>
                      </a:r>
                      <a:endParaRPr lang="en-US" sz="12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LOS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8777872"/>
                  </a:ext>
                </a:extLst>
              </a:tr>
              <a:tr h="255693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5859145"/>
                  </a:ext>
                </a:extLst>
              </a:tr>
              <a:tr h="255693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7003230"/>
                  </a:ext>
                </a:extLst>
              </a:tr>
              <a:tr h="255693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5683422"/>
                  </a:ext>
                </a:extLst>
              </a:tr>
            </a:tbl>
          </a:graphicData>
        </a:graphic>
      </p:graphicFrame>
      <p:graphicFrame>
        <p:nvGraphicFramePr>
          <p:cNvPr id="10" name="Table 8">
            <a:extLst>
              <a:ext uri="{FF2B5EF4-FFF2-40B4-BE49-F238E27FC236}">
                <a16:creationId xmlns:a16="http://schemas.microsoft.com/office/drawing/2014/main" id="{E158BF02-0986-42BC-BB9B-441E30F008F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20638170"/>
              </p:ext>
            </p:extLst>
          </p:nvPr>
        </p:nvGraphicFramePr>
        <p:xfrm>
          <a:off x="6803472" y="3638150"/>
          <a:ext cx="4580389" cy="109728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590925">
                  <a:extLst>
                    <a:ext uri="{9D8B030D-6E8A-4147-A177-3AD203B41FA5}">
                      <a16:colId xmlns:a16="http://schemas.microsoft.com/office/drawing/2014/main" val="2808929865"/>
                    </a:ext>
                  </a:extLst>
                </a:gridCol>
                <a:gridCol w="1135719">
                  <a:extLst>
                    <a:ext uri="{9D8B030D-6E8A-4147-A177-3AD203B41FA5}">
                      <a16:colId xmlns:a16="http://schemas.microsoft.com/office/drawing/2014/main" val="1630882493"/>
                    </a:ext>
                  </a:extLst>
                </a:gridCol>
                <a:gridCol w="743228">
                  <a:extLst>
                    <a:ext uri="{9D8B030D-6E8A-4147-A177-3AD203B41FA5}">
                      <a16:colId xmlns:a16="http://schemas.microsoft.com/office/drawing/2014/main" val="313183231"/>
                    </a:ext>
                  </a:extLst>
                </a:gridCol>
                <a:gridCol w="868489">
                  <a:extLst>
                    <a:ext uri="{9D8B030D-6E8A-4147-A177-3AD203B41FA5}">
                      <a16:colId xmlns:a16="http://schemas.microsoft.com/office/drawing/2014/main" val="1378938224"/>
                    </a:ext>
                  </a:extLst>
                </a:gridCol>
                <a:gridCol w="755467">
                  <a:extLst>
                    <a:ext uri="{9D8B030D-6E8A-4147-A177-3AD203B41FA5}">
                      <a16:colId xmlns:a16="http://schemas.microsoft.com/office/drawing/2014/main" val="141550084"/>
                    </a:ext>
                  </a:extLst>
                </a:gridCol>
                <a:gridCol w="486561">
                  <a:extLst>
                    <a:ext uri="{9D8B030D-6E8A-4147-A177-3AD203B41FA5}">
                      <a16:colId xmlns:a16="http://schemas.microsoft.com/office/drawing/2014/main" val="3921386519"/>
                    </a:ext>
                  </a:extLst>
                </a:gridCol>
              </a:tblGrid>
              <a:tr h="255693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DOB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Weight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Insured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DOC_ID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LOS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8777872"/>
                  </a:ext>
                </a:extLst>
              </a:tr>
              <a:tr h="255693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3-3-1981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5859145"/>
                  </a:ext>
                </a:extLst>
              </a:tr>
              <a:tr h="255693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2-14-1975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7003230"/>
                  </a:ext>
                </a:extLst>
              </a:tr>
              <a:tr h="255693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12-10-1990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5683422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1E39BAF6-402B-4D18-A554-2D110E974E7B}"/>
              </a:ext>
            </a:extLst>
          </p:cNvPr>
          <p:cNvSpPr txBox="1"/>
          <p:nvPr/>
        </p:nvSpPr>
        <p:spPr>
          <a:xfrm>
            <a:off x="1510531" y="5159092"/>
            <a:ext cx="19482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Loaded in Stata (</a:t>
            </a:r>
            <a:r>
              <a:rPr lang="en-US" i="1" dirty="0"/>
              <a:t>master</a:t>
            </a:r>
            <a:r>
              <a:rPr lang="en-US" dirty="0"/>
              <a:t> dataset)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19A4050-7DC8-42C2-B48F-78B8F580574F}"/>
              </a:ext>
            </a:extLst>
          </p:cNvPr>
          <p:cNvSpPr txBox="1"/>
          <p:nvPr/>
        </p:nvSpPr>
        <p:spPr>
          <a:xfrm>
            <a:off x="4597562" y="5159092"/>
            <a:ext cx="16493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On hard drive (</a:t>
            </a:r>
            <a:r>
              <a:rPr lang="en-US" i="1" dirty="0"/>
              <a:t>using</a:t>
            </a:r>
            <a:r>
              <a:rPr lang="en-US" dirty="0"/>
              <a:t> dataset)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8CA01A90-0CAD-42FD-A8B9-161AA05259A8}"/>
              </a:ext>
            </a:extLst>
          </p:cNvPr>
          <p:cNvCxnSpPr>
            <a:cxnSpLocks/>
          </p:cNvCxnSpPr>
          <p:nvPr/>
        </p:nvCxnSpPr>
        <p:spPr>
          <a:xfrm flipV="1">
            <a:off x="2484679" y="4760597"/>
            <a:ext cx="0" cy="43329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B00183C-0DBC-43AA-9F08-C758FF559CD1}"/>
              </a:ext>
            </a:extLst>
          </p:cNvPr>
          <p:cNvCxnSpPr>
            <a:cxnSpLocks/>
          </p:cNvCxnSpPr>
          <p:nvPr/>
        </p:nvCxnSpPr>
        <p:spPr>
          <a:xfrm flipV="1">
            <a:off x="5422224" y="4760597"/>
            <a:ext cx="0" cy="43329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AB72F4BD-C941-43D2-931A-CF0CEEDD983E}"/>
              </a:ext>
            </a:extLst>
          </p:cNvPr>
          <p:cNvSpPr txBox="1"/>
          <p:nvPr/>
        </p:nvSpPr>
        <p:spPr>
          <a:xfrm>
            <a:off x="6401932" y="4002124"/>
            <a:ext cx="2494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=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871A832-5B76-4F44-8507-9EF50BA6AE46}"/>
              </a:ext>
            </a:extLst>
          </p:cNvPr>
          <p:cNvSpPr txBox="1"/>
          <p:nvPr/>
        </p:nvSpPr>
        <p:spPr>
          <a:xfrm>
            <a:off x="4179135" y="4002124"/>
            <a:ext cx="2494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+</a:t>
            </a:r>
          </a:p>
        </p:txBody>
      </p:sp>
    </p:spTree>
    <p:extLst>
      <p:ext uri="{BB962C8B-B14F-4D97-AF65-F5344CB8AC3E}">
        <p14:creationId xmlns:p14="http://schemas.microsoft.com/office/powerpoint/2010/main" val="195028082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cap="none" dirty="0">
                <a:latin typeface="Courier New" panose="02070309020205020404" pitchFamily="49" charset="0"/>
                <a:cs typeface="Courier New" panose="02070309020205020404" pitchFamily="49" charset="0"/>
              </a:rPr>
              <a:t>merge 1:1 </a:t>
            </a:r>
            <a:r>
              <a:rPr lang="en-US" cap="none" dirty="0">
                <a:latin typeface="+mn-lt"/>
                <a:cs typeface="Courier New" panose="02070309020205020404" pitchFamily="49" charset="0"/>
              </a:rPr>
              <a:t>for</a:t>
            </a:r>
            <a:r>
              <a:rPr lang="en-US" cap="none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cap="none" dirty="0">
                <a:latin typeface="+mn-lt"/>
                <a:cs typeface="Courier New" panose="02070309020205020404" pitchFamily="49" charset="0"/>
              </a:rPr>
              <a:t>one-to-one merging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cs typeface="Courier New" panose="02070309020205020404" pitchFamily="49" charset="0"/>
              </a:rPr>
              <a:t>Basic syntax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merge 1:1 </a:t>
            </a:r>
            <a:r>
              <a:rPr lang="en-US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varlist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using </a:t>
            </a:r>
            <a:r>
              <a:rPr lang="en-US" i="1" dirty="0">
                <a:latin typeface="Courier New" panose="02070309020205020404" pitchFamily="49" charset="0"/>
                <a:cs typeface="Courier New" panose="02070309020205020404" pitchFamily="49" charset="0"/>
              </a:rPr>
              <a:t>filename</a:t>
            </a:r>
          </a:p>
          <a:p>
            <a:pPr lvl="1"/>
            <a:r>
              <a:rPr lang="en-US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varlist</a:t>
            </a:r>
            <a:r>
              <a:rPr lang="en-US" i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cs typeface="Courier New" panose="02070309020205020404" pitchFamily="49" charset="0"/>
              </a:rPr>
              <a:t>is one or more variables used to match observations </a:t>
            </a:r>
            <a:endParaRPr lang="en-US" i="1" dirty="0">
              <a:cs typeface="Courier New" panose="02070309020205020404" pitchFamily="49" charset="0"/>
            </a:endParaRPr>
          </a:p>
          <a:p>
            <a:pPr lvl="1"/>
            <a:r>
              <a:rPr lang="en-US" i="1" dirty="0">
                <a:latin typeface="Courier New" panose="02070309020205020404" pitchFamily="49" charset="0"/>
                <a:cs typeface="Courier New" panose="02070309020205020404" pitchFamily="49" charset="0"/>
              </a:rPr>
              <a:t>filename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/>
              <a:t>is the data set stored elsewhere to be merged into the data set currently loaded in Stata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2A1612-5606-469B-819E-ABDAF3EA72D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169A16"/>
                </a:solidFill>
              </a:rPr>
              <a:t>*one-to-one merge example</a:t>
            </a:r>
          </a:p>
          <a:p>
            <a:r>
              <a:rPr lang="en-US" dirty="0"/>
              <a:t>merge 1:1 id using </a:t>
            </a:r>
            <a:r>
              <a:rPr lang="en-US" dirty="0" err="1"/>
              <a:t>morevars.dta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784773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B9867-8E8E-4C91-84F0-A5115709B5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_merge</a:t>
            </a:r>
            <a:r>
              <a:rPr lang="en-US" dirty="0"/>
              <a:t>: understanding the resulting merge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61B8B1-A986-4EDA-A88C-17D1B2D66D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003228" cy="4023359"/>
          </a:xfrm>
        </p:spPr>
        <p:txBody>
          <a:bodyPr>
            <a:normAutofit/>
          </a:bodyPr>
          <a:lstStyle/>
          <a:p>
            <a:r>
              <a:rPr lang="en-US" dirty="0"/>
              <a:t>After running a 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merge</a:t>
            </a:r>
            <a:r>
              <a:rPr lang="en-US" dirty="0"/>
              <a:t>, Stata will </a:t>
            </a:r>
            <a:r>
              <a:rPr lang="en-US" dirty="0" err="1"/>
              <a:t>ouput</a:t>
            </a:r>
            <a:r>
              <a:rPr lang="en-US" dirty="0"/>
              <a:t> a table similar to the table pictured on the right</a:t>
            </a:r>
          </a:p>
          <a:p>
            <a:r>
              <a:rPr lang="en-US" dirty="0"/>
              <a:t>Stata also automatically adds a new variable,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_merge</a:t>
            </a:r>
            <a:r>
              <a:rPr lang="en-US" dirty="0"/>
              <a:t>, to the merged data set, where: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_merge==1 </a:t>
            </a:r>
            <a:r>
              <a:rPr lang="en-US" dirty="0"/>
              <a:t>if the observation’s id is only found in the master file 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_merge==2 </a:t>
            </a:r>
            <a:r>
              <a:rPr lang="en-US" dirty="0"/>
              <a:t>if the observation’s id is only found in the using file 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_merge==3 </a:t>
            </a:r>
            <a:r>
              <a:rPr lang="en-US" dirty="0"/>
              <a:t>if the observation’s merge id was matched in both files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032D83-AAD0-463B-A17C-CD15055D7E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7952" y="1845735"/>
            <a:ext cx="5937728" cy="4023360"/>
          </a:xfrm>
        </p:spPr>
        <p:txBody>
          <a:bodyPr>
            <a:normAutofit/>
          </a:bodyPr>
          <a:lstStyle/>
          <a:p>
            <a:endParaRPr lang="en-US" dirty="0"/>
          </a:p>
          <a:p>
            <a:r>
              <a:rPr lang="en-US" sz="1200" dirty="0"/>
              <a:t>    Result                      Number of </a:t>
            </a:r>
            <a:r>
              <a:rPr lang="en-US" sz="1200" dirty="0" err="1"/>
              <a:t>obs</a:t>
            </a:r>
            <a:endParaRPr lang="en-US" sz="1200" dirty="0"/>
          </a:p>
          <a:p>
            <a:r>
              <a:rPr lang="en-US" sz="1200" dirty="0"/>
              <a:t>    -----------------------------------------</a:t>
            </a:r>
          </a:p>
          <a:p>
            <a:r>
              <a:rPr lang="en-US" sz="1200" dirty="0"/>
              <a:t>    Not matched                             5</a:t>
            </a:r>
          </a:p>
          <a:p>
            <a:r>
              <a:rPr lang="en-US" sz="1200" dirty="0"/>
              <a:t>        from master                         5  (_merge==1)</a:t>
            </a:r>
          </a:p>
          <a:p>
            <a:r>
              <a:rPr lang="en-US" sz="1200" dirty="0"/>
              <a:t>        from using                          0  (_merge==2)</a:t>
            </a:r>
          </a:p>
          <a:p>
            <a:endParaRPr lang="en-US" sz="1200" dirty="0"/>
          </a:p>
          <a:p>
            <a:r>
              <a:rPr lang="en-US" sz="1200" dirty="0"/>
              <a:t>    Matched                               200  (_merge==3)</a:t>
            </a:r>
          </a:p>
          <a:p>
            <a:r>
              <a:rPr lang="en-US" sz="1200" dirty="0"/>
              <a:t>    -----------------------------------------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>
                <a:solidFill>
                  <a:srgbClr val="169A16"/>
                </a:solidFill>
              </a:rPr>
              <a:t>* drop unmatched observations</a:t>
            </a:r>
          </a:p>
          <a:p>
            <a:r>
              <a:rPr lang="en-US" dirty="0"/>
              <a:t>drop if _merge != 3</a:t>
            </a:r>
          </a:p>
        </p:txBody>
      </p:sp>
    </p:spTree>
    <p:extLst>
      <p:ext uri="{BB962C8B-B14F-4D97-AF65-F5344CB8AC3E}">
        <p14:creationId xmlns:p14="http://schemas.microsoft.com/office/powerpoint/2010/main" val="355611601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EDA17A1-8687-4843-A1C6-DF6ABE8890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Many-to-one merges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BDEE144-9F68-4640-A815-37D0A9BC55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Many-to-one merge: unique id values appear multiple times in the master data set, but only once in the using dataset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graphicFrame>
        <p:nvGraphicFramePr>
          <p:cNvPr id="8" name="Table 8">
            <a:extLst>
              <a:ext uri="{FF2B5EF4-FFF2-40B4-BE49-F238E27FC236}">
                <a16:creationId xmlns:a16="http://schemas.microsoft.com/office/drawing/2014/main" id="{6AEAF1F4-05AF-49DC-BB82-CBE5CEC5119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23783460"/>
              </p:ext>
            </p:extLst>
          </p:nvPr>
        </p:nvGraphicFramePr>
        <p:xfrm>
          <a:off x="3212000" y="3279419"/>
          <a:ext cx="2675395" cy="109728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978406">
                  <a:extLst>
                    <a:ext uri="{9D8B030D-6E8A-4147-A177-3AD203B41FA5}">
                      <a16:colId xmlns:a16="http://schemas.microsoft.com/office/drawing/2014/main" val="2808929865"/>
                    </a:ext>
                  </a:extLst>
                </a:gridCol>
                <a:gridCol w="851377">
                  <a:extLst>
                    <a:ext uri="{9D8B030D-6E8A-4147-A177-3AD203B41FA5}">
                      <a16:colId xmlns:a16="http://schemas.microsoft.com/office/drawing/2014/main" val="1630882493"/>
                    </a:ext>
                  </a:extLst>
                </a:gridCol>
                <a:gridCol w="845612">
                  <a:extLst>
                    <a:ext uri="{9D8B030D-6E8A-4147-A177-3AD203B41FA5}">
                      <a16:colId xmlns:a16="http://schemas.microsoft.com/office/drawing/2014/main" val="313183231"/>
                    </a:ext>
                  </a:extLst>
                </a:gridCol>
              </a:tblGrid>
              <a:tr h="255693">
                <a:tc>
                  <a:txBody>
                    <a:bodyPr/>
                    <a:lstStyle/>
                    <a:p>
                      <a:r>
                        <a:rPr lang="en-US" sz="12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Doc_ID</a:t>
                      </a:r>
                      <a:endParaRPr lang="en-US" sz="12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Doc_yrs</a:t>
                      </a:r>
                      <a:endParaRPr lang="en-US" sz="12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Doc_gen</a:t>
                      </a:r>
                      <a:endParaRPr lang="en-US" sz="12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8777872"/>
                  </a:ext>
                </a:extLst>
              </a:tr>
              <a:tr h="255693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5859145"/>
                  </a:ext>
                </a:extLst>
              </a:tr>
              <a:tr h="255693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7003230"/>
                  </a:ext>
                </a:extLst>
              </a:tr>
              <a:tr h="255693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5683422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CACB47A9-F8BD-4EAA-A436-B96CAD0A7757}"/>
              </a:ext>
            </a:extLst>
          </p:cNvPr>
          <p:cNvSpPr txBox="1"/>
          <p:nvPr/>
        </p:nvSpPr>
        <p:spPr>
          <a:xfrm>
            <a:off x="839617" y="5068677"/>
            <a:ext cx="19482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Loaded in Stata (</a:t>
            </a:r>
            <a:r>
              <a:rPr lang="en-US" i="1" dirty="0"/>
              <a:t>master</a:t>
            </a:r>
            <a:r>
              <a:rPr lang="en-US" dirty="0"/>
              <a:t> dataset)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B16B7D3-DC78-4E77-B8E2-E66270A0542F}"/>
              </a:ext>
            </a:extLst>
          </p:cNvPr>
          <p:cNvSpPr txBox="1"/>
          <p:nvPr/>
        </p:nvSpPr>
        <p:spPr>
          <a:xfrm>
            <a:off x="3733424" y="5059312"/>
            <a:ext cx="16493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On hard drive (</a:t>
            </a:r>
            <a:r>
              <a:rPr lang="en-US" i="1" dirty="0"/>
              <a:t>using</a:t>
            </a:r>
            <a:r>
              <a:rPr lang="en-US" dirty="0"/>
              <a:t> dataset)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945A19A-D39C-445C-8B0F-651D6C9A3DD6}"/>
              </a:ext>
            </a:extLst>
          </p:cNvPr>
          <p:cNvCxnSpPr>
            <a:cxnSpLocks/>
          </p:cNvCxnSpPr>
          <p:nvPr/>
        </p:nvCxnSpPr>
        <p:spPr>
          <a:xfrm flipV="1">
            <a:off x="1805375" y="4710923"/>
            <a:ext cx="0" cy="43329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E92E5B5B-7289-4396-93C4-592D195DDD3F}"/>
              </a:ext>
            </a:extLst>
          </p:cNvPr>
          <p:cNvCxnSpPr>
            <a:cxnSpLocks/>
          </p:cNvCxnSpPr>
          <p:nvPr/>
        </p:nvCxnSpPr>
        <p:spPr>
          <a:xfrm flipV="1">
            <a:off x="4420830" y="4404478"/>
            <a:ext cx="0" cy="73973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611D7050-8C10-4610-9C15-CA961B740956}"/>
              </a:ext>
            </a:extLst>
          </p:cNvPr>
          <p:cNvSpPr txBox="1"/>
          <p:nvPr/>
        </p:nvSpPr>
        <p:spPr>
          <a:xfrm>
            <a:off x="5971296" y="3643393"/>
            <a:ext cx="2494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=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6ECA9F9-07AD-48B9-8D4B-E59F8AC62C08}"/>
              </a:ext>
            </a:extLst>
          </p:cNvPr>
          <p:cNvSpPr txBox="1"/>
          <p:nvPr/>
        </p:nvSpPr>
        <p:spPr>
          <a:xfrm>
            <a:off x="2822746" y="3643393"/>
            <a:ext cx="2494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+</a:t>
            </a:r>
          </a:p>
        </p:txBody>
      </p:sp>
      <p:graphicFrame>
        <p:nvGraphicFramePr>
          <p:cNvPr id="16" name="Table 8">
            <a:extLst>
              <a:ext uri="{FF2B5EF4-FFF2-40B4-BE49-F238E27FC236}">
                <a16:creationId xmlns:a16="http://schemas.microsoft.com/office/drawing/2014/main" id="{46A5892B-0E24-4379-83E7-8120CEE7052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33431004"/>
              </p:ext>
            </p:extLst>
          </p:nvPr>
        </p:nvGraphicFramePr>
        <p:xfrm>
          <a:off x="942054" y="3297378"/>
          <a:ext cx="1837469" cy="137160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593622">
                  <a:extLst>
                    <a:ext uri="{9D8B030D-6E8A-4147-A177-3AD203B41FA5}">
                      <a16:colId xmlns:a16="http://schemas.microsoft.com/office/drawing/2014/main" val="2808929865"/>
                    </a:ext>
                  </a:extLst>
                </a:gridCol>
                <a:gridCol w="774063">
                  <a:extLst>
                    <a:ext uri="{9D8B030D-6E8A-4147-A177-3AD203B41FA5}">
                      <a16:colId xmlns:a16="http://schemas.microsoft.com/office/drawing/2014/main" val="1630882493"/>
                    </a:ext>
                  </a:extLst>
                </a:gridCol>
                <a:gridCol w="469784">
                  <a:extLst>
                    <a:ext uri="{9D8B030D-6E8A-4147-A177-3AD203B41FA5}">
                      <a16:colId xmlns:a16="http://schemas.microsoft.com/office/drawing/2014/main" val="313183231"/>
                    </a:ext>
                  </a:extLst>
                </a:gridCol>
              </a:tblGrid>
              <a:tr h="255693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Doc_ID</a:t>
                      </a:r>
                      <a:endParaRPr lang="en-US" sz="12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LOS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8777872"/>
                  </a:ext>
                </a:extLst>
              </a:tr>
              <a:tr h="255693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5859145"/>
                  </a:ext>
                </a:extLst>
              </a:tr>
              <a:tr h="255693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7003230"/>
                  </a:ext>
                </a:extLst>
              </a:tr>
              <a:tr h="255693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5683422"/>
                  </a:ext>
                </a:extLst>
              </a:tr>
              <a:tr h="255693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7712685"/>
                  </a:ext>
                </a:extLst>
              </a:tr>
            </a:tbl>
          </a:graphicData>
        </a:graphic>
      </p:graphicFrame>
      <p:graphicFrame>
        <p:nvGraphicFramePr>
          <p:cNvPr id="17" name="Table 8">
            <a:extLst>
              <a:ext uri="{FF2B5EF4-FFF2-40B4-BE49-F238E27FC236}">
                <a16:creationId xmlns:a16="http://schemas.microsoft.com/office/drawing/2014/main" id="{BB52E1F4-B8C4-4A5C-8A95-1BEACB14BA4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4172101"/>
              </p:ext>
            </p:extLst>
          </p:nvPr>
        </p:nvGraphicFramePr>
        <p:xfrm>
          <a:off x="6447703" y="3230608"/>
          <a:ext cx="4799509" cy="164592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573882">
                  <a:extLst>
                    <a:ext uri="{9D8B030D-6E8A-4147-A177-3AD203B41FA5}">
                      <a16:colId xmlns:a16="http://schemas.microsoft.com/office/drawing/2014/main" val="2808929865"/>
                    </a:ext>
                  </a:extLst>
                </a:gridCol>
                <a:gridCol w="830510">
                  <a:extLst>
                    <a:ext uri="{9D8B030D-6E8A-4147-A177-3AD203B41FA5}">
                      <a16:colId xmlns:a16="http://schemas.microsoft.com/office/drawing/2014/main" val="1630882493"/>
                    </a:ext>
                  </a:extLst>
                </a:gridCol>
                <a:gridCol w="612397">
                  <a:extLst>
                    <a:ext uri="{9D8B030D-6E8A-4147-A177-3AD203B41FA5}">
                      <a16:colId xmlns:a16="http://schemas.microsoft.com/office/drawing/2014/main" val="313183231"/>
                    </a:ext>
                  </a:extLst>
                </a:gridCol>
                <a:gridCol w="939567">
                  <a:extLst>
                    <a:ext uri="{9D8B030D-6E8A-4147-A177-3AD203B41FA5}">
                      <a16:colId xmlns:a16="http://schemas.microsoft.com/office/drawing/2014/main" val="4204391474"/>
                    </a:ext>
                  </a:extLst>
                </a:gridCol>
                <a:gridCol w="922789">
                  <a:extLst>
                    <a:ext uri="{9D8B030D-6E8A-4147-A177-3AD203B41FA5}">
                      <a16:colId xmlns:a16="http://schemas.microsoft.com/office/drawing/2014/main" val="389990775"/>
                    </a:ext>
                  </a:extLst>
                </a:gridCol>
                <a:gridCol w="920364">
                  <a:extLst>
                    <a:ext uri="{9D8B030D-6E8A-4147-A177-3AD203B41FA5}">
                      <a16:colId xmlns:a16="http://schemas.microsoft.com/office/drawing/2014/main" val="976165555"/>
                    </a:ext>
                  </a:extLst>
                </a:gridCol>
              </a:tblGrid>
              <a:tr h="255693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Doc_ID</a:t>
                      </a:r>
                      <a:endParaRPr lang="en-US" sz="12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Doc_yrs</a:t>
                      </a:r>
                      <a:endParaRPr lang="en-US" sz="12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Doc_gen</a:t>
                      </a:r>
                      <a:endParaRPr lang="en-US" sz="12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_merge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8777872"/>
                  </a:ext>
                </a:extLst>
              </a:tr>
              <a:tr h="255693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5859145"/>
                  </a:ext>
                </a:extLst>
              </a:tr>
              <a:tr h="255693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7003230"/>
                  </a:ext>
                </a:extLst>
              </a:tr>
              <a:tr h="255693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5683422"/>
                  </a:ext>
                </a:extLst>
              </a:tr>
              <a:tr h="255693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7712685"/>
                  </a:ext>
                </a:extLst>
              </a:tr>
              <a:tr h="255693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8710848"/>
                  </a:ext>
                </a:extLst>
              </a:tr>
            </a:tbl>
          </a:graphicData>
        </a:graphic>
      </p:graphicFrame>
      <p:sp>
        <p:nvSpPr>
          <p:cNvPr id="21" name="TextBox 20">
            <a:extLst>
              <a:ext uri="{FF2B5EF4-FFF2-40B4-BE49-F238E27FC236}">
                <a16:creationId xmlns:a16="http://schemas.microsoft.com/office/drawing/2014/main" id="{D8B1F6D6-A800-4691-AE43-84D9CB6B648E}"/>
              </a:ext>
            </a:extLst>
          </p:cNvPr>
          <p:cNvSpPr txBox="1"/>
          <p:nvPr/>
        </p:nvSpPr>
        <p:spPr>
          <a:xfrm>
            <a:off x="1986709" y="2628837"/>
            <a:ext cx="35715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Merging on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Doc_ID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dirty="0"/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4047F40A-45D0-4ABB-8475-47DCB97AB62E}"/>
              </a:ext>
            </a:extLst>
          </p:cNvPr>
          <p:cNvCxnSpPr>
            <a:cxnSpLocks/>
          </p:cNvCxnSpPr>
          <p:nvPr/>
        </p:nvCxnSpPr>
        <p:spPr>
          <a:xfrm flipH="1">
            <a:off x="1993450" y="2952002"/>
            <a:ext cx="794462" cy="299638"/>
          </a:xfrm>
          <a:prstGeom prst="straightConnector1">
            <a:avLst/>
          </a:prstGeom>
          <a:ln>
            <a:solidFill>
              <a:srgbClr val="DFE3E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E348893C-9E0E-4801-8D92-B67EBC355466}"/>
              </a:ext>
            </a:extLst>
          </p:cNvPr>
          <p:cNvCxnSpPr>
            <a:cxnSpLocks/>
          </p:cNvCxnSpPr>
          <p:nvPr/>
        </p:nvCxnSpPr>
        <p:spPr>
          <a:xfrm>
            <a:off x="2882879" y="2952002"/>
            <a:ext cx="668541" cy="299638"/>
          </a:xfrm>
          <a:prstGeom prst="straightConnector1">
            <a:avLst/>
          </a:prstGeom>
          <a:ln>
            <a:solidFill>
              <a:srgbClr val="DFE3E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368AE477-1A58-4910-84DF-DA0F8FA489F1}"/>
              </a:ext>
            </a:extLst>
          </p:cNvPr>
          <p:cNvSpPr txBox="1"/>
          <p:nvPr/>
        </p:nvSpPr>
        <p:spPr>
          <a:xfrm>
            <a:off x="8042436" y="5222763"/>
            <a:ext cx="357156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_merge==2 </a:t>
            </a:r>
            <a:r>
              <a:rPr lang="en-US" dirty="0"/>
              <a:t>means this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Doc_ID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/>
              <a:t>only appears </a:t>
            </a:r>
            <a:r>
              <a:rPr lang="en-US" dirty="0">
                <a:cs typeface="Courier New" panose="02070309020205020404" pitchFamily="49" charset="0"/>
              </a:rPr>
              <a:t>in using dataset</a:t>
            </a:r>
          </a:p>
          <a:p>
            <a:endParaRPr lang="en-US" dirty="0"/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60F9158F-1DF9-4AA0-8960-F11AEFD4AC6D}"/>
              </a:ext>
            </a:extLst>
          </p:cNvPr>
          <p:cNvCxnSpPr>
            <a:cxnSpLocks/>
          </p:cNvCxnSpPr>
          <p:nvPr/>
        </p:nvCxnSpPr>
        <p:spPr>
          <a:xfrm flipV="1">
            <a:off x="9680895" y="4815281"/>
            <a:ext cx="729843" cy="407482"/>
          </a:xfrm>
          <a:prstGeom prst="straightConnector1">
            <a:avLst/>
          </a:prstGeom>
          <a:ln>
            <a:solidFill>
              <a:srgbClr val="DFE3E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318891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EDA17A1-8687-4843-A1C6-DF6ABE8890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One-to-many merges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BDEE144-9F68-4640-A815-37D0A9BC55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One-to-many merge: unique id values appear once each in the master data set, but can appear many times in the using dataset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ACB47A9-F8BD-4EAA-A436-B96CAD0A7757}"/>
              </a:ext>
            </a:extLst>
          </p:cNvPr>
          <p:cNvSpPr txBox="1"/>
          <p:nvPr/>
        </p:nvSpPr>
        <p:spPr>
          <a:xfrm>
            <a:off x="839617" y="5068677"/>
            <a:ext cx="19482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Loaded in Stata (</a:t>
            </a:r>
            <a:r>
              <a:rPr lang="en-US" i="1" dirty="0"/>
              <a:t>master</a:t>
            </a:r>
            <a:r>
              <a:rPr lang="en-US" dirty="0"/>
              <a:t> dataset)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B16B7D3-DC78-4E77-B8E2-E66270A0542F}"/>
              </a:ext>
            </a:extLst>
          </p:cNvPr>
          <p:cNvSpPr txBox="1"/>
          <p:nvPr/>
        </p:nvSpPr>
        <p:spPr>
          <a:xfrm>
            <a:off x="3733424" y="5059312"/>
            <a:ext cx="16493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On hard drive (</a:t>
            </a:r>
            <a:r>
              <a:rPr lang="en-US" i="1" dirty="0"/>
              <a:t>using</a:t>
            </a:r>
            <a:r>
              <a:rPr lang="en-US" dirty="0"/>
              <a:t> dataset)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945A19A-D39C-445C-8B0F-651D6C9A3DD6}"/>
              </a:ext>
            </a:extLst>
          </p:cNvPr>
          <p:cNvCxnSpPr>
            <a:cxnSpLocks/>
          </p:cNvCxnSpPr>
          <p:nvPr/>
        </p:nvCxnSpPr>
        <p:spPr>
          <a:xfrm flipV="1">
            <a:off x="4559827" y="4713447"/>
            <a:ext cx="0" cy="43329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E92E5B5B-7289-4396-93C4-592D195DDD3F}"/>
              </a:ext>
            </a:extLst>
          </p:cNvPr>
          <p:cNvCxnSpPr>
            <a:cxnSpLocks/>
          </p:cNvCxnSpPr>
          <p:nvPr/>
        </p:nvCxnSpPr>
        <p:spPr>
          <a:xfrm flipV="1">
            <a:off x="1702797" y="4387665"/>
            <a:ext cx="0" cy="73973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611D7050-8C10-4610-9C15-CA961B740956}"/>
              </a:ext>
            </a:extLst>
          </p:cNvPr>
          <p:cNvSpPr txBox="1"/>
          <p:nvPr/>
        </p:nvSpPr>
        <p:spPr>
          <a:xfrm>
            <a:off x="5893926" y="3643393"/>
            <a:ext cx="2494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=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6ECA9F9-07AD-48B9-8D4B-E59F8AC62C08}"/>
              </a:ext>
            </a:extLst>
          </p:cNvPr>
          <p:cNvSpPr txBox="1"/>
          <p:nvPr/>
        </p:nvSpPr>
        <p:spPr>
          <a:xfrm>
            <a:off x="3523083" y="3643393"/>
            <a:ext cx="2494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+</a:t>
            </a:r>
          </a:p>
        </p:txBody>
      </p:sp>
      <p:graphicFrame>
        <p:nvGraphicFramePr>
          <p:cNvPr id="16" name="Table 8">
            <a:extLst>
              <a:ext uri="{FF2B5EF4-FFF2-40B4-BE49-F238E27FC236}">
                <a16:creationId xmlns:a16="http://schemas.microsoft.com/office/drawing/2014/main" id="{46A5892B-0E24-4379-83E7-8120CEE7052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55020140"/>
              </p:ext>
            </p:extLst>
          </p:nvPr>
        </p:nvGraphicFramePr>
        <p:xfrm>
          <a:off x="3834304" y="3244202"/>
          <a:ext cx="1837469" cy="137160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593622">
                  <a:extLst>
                    <a:ext uri="{9D8B030D-6E8A-4147-A177-3AD203B41FA5}">
                      <a16:colId xmlns:a16="http://schemas.microsoft.com/office/drawing/2014/main" val="2808929865"/>
                    </a:ext>
                  </a:extLst>
                </a:gridCol>
                <a:gridCol w="774063">
                  <a:extLst>
                    <a:ext uri="{9D8B030D-6E8A-4147-A177-3AD203B41FA5}">
                      <a16:colId xmlns:a16="http://schemas.microsoft.com/office/drawing/2014/main" val="1630882493"/>
                    </a:ext>
                  </a:extLst>
                </a:gridCol>
                <a:gridCol w="469784">
                  <a:extLst>
                    <a:ext uri="{9D8B030D-6E8A-4147-A177-3AD203B41FA5}">
                      <a16:colId xmlns:a16="http://schemas.microsoft.com/office/drawing/2014/main" val="313183231"/>
                    </a:ext>
                  </a:extLst>
                </a:gridCol>
              </a:tblGrid>
              <a:tr h="255693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Doc_ID</a:t>
                      </a:r>
                      <a:endParaRPr lang="en-US" sz="12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LOS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8777872"/>
                  </a:ext>
                </a:extLst>
              </a:tr>
              <a:tr h="255693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5859145"/>
                  </a:ext>
                </a:extLst>
              </a:tr>
              <a:tr h="255693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7003230"/>
                  </a:ext>
                </a:extLst>
              </a:tr>
              <a:tr h="255693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5683422"/>
                  </a:ext>
                </a:extLst>
              </a:tr>
              <a:tr h="255693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7712685"/>
                  </a:ext>
                </a:extLst>
              </a:tr>
            </a:tbl>
          </a:graphicData>
        </a:graphic>
      </p:graphicFrame>
      <p:graphicFrame>
        <p:nvGraphicFramePr>
          <p:cNvPr id="17" name="Table 8">
            <a:extLst>
              <a:ext uri="{FF2B5EF4-FFF2-40B4-BE49-F238E27FC236}">
                <a16:creationId xmlns:a16="http://schemas.microsoft.com/office/drawing/2014/main" id="{BB52E1F4-B8C4-4A5C-8A95-1BEACB14BA4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32456877"/>
              </p:ext>
            </p:extLst>
          </p:nvPr>
        </p:nvGraphicFramePr>
        <p:xfrm>
          <a:off x="6447703" y="3230608"/>
          <a:ext cx="4799509" cy="164592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775218">
                  <a:extLst>
                    <a:ext uri="{9D8B030D-6E8A-4147-A177-3AD203B41FA5}">
                      <a16:colId xmlns:a16="http://schemas.microsoft.com/office/drawing/2014/main" val="2808929865"/>
                    </a:ext>
                  </a:extLst>
                </a:gridCol>
                <a:gridCol w="855677">
                  <a:extLst>
                    <a:ext uri="{9D8B030D-6E8A-4147-A177-3AD203B41FA5}">
                      <a16:colId xmlns:a16="http://schemas.microsoft.com/office/drawing/2014/main" val="1630882493"/>
                    </a:ext>
                  </a:extLst>
                </a:gridCol>
                <a:gridCol w="838899">
                  <a:extLst>
                    <a:ext uri="{9D8B030D-6E8A-4147-A177-3AD203B41FA5}">
                      <a16:colId xmlns:a16="http://schemas.microsoft.com/office/drawing/2014/main" val="313183231"/>
                    </a:ext>
                  </a:extLst>
                </a:gridCol>
                <a:gridCol w="486562">
                  <a:extLst>
                    <a:ext uri="{9D8B030D-6E8A-4147-A177-3AD203B41FA5}">
                      <a16:colId xmlns:a16="http://schemas.microsoft.com/office/drawing/2014/main" val="4204391474"/>
                    </a:ext>
                  </a:extLst>
                </a:gridCol>
                <a:gridCol w="922789">
                  <a:extLst>
                    <a:ext uri="{9D8B030D-6E8A-4147-A177-3AD203B41FA5}">
                      <a16:colId xmlns:a16="http://schemas.microsoft.com/office/drawing/2014/main" val="389990775"/>
                    </a:ext>
                  </a:extLst>
                </a:gridCol>
                <a:gridCol w="920364">
                  <a:extLst>
                    <a:ext uri="{9D8B030D-6E8A-4147-A177-3AD203B41FA5}">
                      <a16:colId xmlns:a16="http://schemas.microsoft.com/office/drawing/2014/main" val="976165555"/>
                    </a:ext>
                  </a:extLst>
                </a:gridCol>
              </a:tblGrid>
              <a:tr h="255693">
                <a:tc>
                  <a:txBody>
                    <a:bodyPr/>
                    <a:lstStyle/>
                    <a:p>
                      <a:r>
                        <a:rPr lang="en-US" sz="12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Doc_ID</a:t>
                      </a:r>
                      <a:endParaRPr lang="en-US" sz="12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Doc_yrs</a:t>
                      </a:r>
                      <a:endParaRPr lang="en-US" sz="12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Doc_gen</a:t>
                      </a:r>
                      <a:endParaRPr lang="en-US" sz="12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_merge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8777872"/>
                  </a:ext>
                </a:extLst>
              </a:tr>
              <a:tr h="255693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5859145"/>
                  </a:ext>
                </a:extLst>
              </a:tr>
              <a:tr h="255693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7003230"/>
                  </a:ext>
                </a:extLst>
              </a:tr>
              <a:tr h="255693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5683422"/>
                  </a:ext>
                </a:extLst>
              </a:tr>
              <a:tr h="255693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7712685"/>
                  </a:ext>
                </a:extLst>
              </a:tr>
              <a:tr h="255693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8710848"/>
                  </a:ext>
                </a:extLst>
              </a:tr>
            </a:tbl>
          </a:graphicData>
        </a:graphic>
      </p:graphicFrame>
      <p:sp>
        <p:nvSpPr>
          <p:cNvPr id="21" name="TextBox 20">
            <a:extLst>
              <a:ext uri="{FF2B5EF4-FFF2-40B4-BE49-F238E27FC236}">
                <a16:creationId xmlns:a16="http://schemas.microsoft.com/office/drawing/2014/main" id="{D8B1F6D6-A800-4691-AE43-84D9CB6B648E}"/>
              </a:ext>
            </a:extLst>
          </p:cNvPr>
          <p:cNvSpPr txBox="1"/>
          <p:nvPr/>
        </p:nvSpPr>
        <p:spPr>
          <a:xfrm>
            <a:off x="1986709" y="2628837"/>
            <a:ext cx="35715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Merging on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Doc_ID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dirty="0"/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4047F40A-45D0-4ABB-8475-47DCB97AB62E}"/>
              </a:ext>
            </a:extLst>
          </p:cNvPr>
          <p:cNvCxnSpPr>
            <a:cxnSpLocks/>
          </p:cNvCxnSpPr>
          <p:nvPr/>
        </p:nvCxnSpPr>
        <p:spPr>
          <a:xfrm flipH="1">
            <a:off x="1462253" y="2930970"/>
            <a:ext cx="794462" cy="299638"/>
          </a:xfrm>
          <a:prstGeom prst="straightConnector1">
            <a:avLst/>
          </a:prstGeom>
          <a:ln>
            <a:solidFill>
              <a:srgbClr val="DFE3E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E348893C-9E0E-4801-8D92-B67EBC355466}"/>
              </a:ext>
            </a:extLst>
          </p:cNvPr>
          <p:cNvCxnSpPr>
            <a:cxnSpLocks/>
          </p:cNvCxnSpPr>
          <p:nvPr/>
        </p:nvCxnSpPr>
        <p:spPr>
          <a:xfrm>
            <a:off x="3858229" y="2907437"/>
            <a:ext cx="668541" cy="299638"/>
          </a:xfrm>
          <a:prstGeom prst="straightConnector1">
            <a:avLst/>
          </a:prstGeom>
          <a:ln>
            <a:solidFill>
              <a:srgbClr val="DFE3E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368AE477-1A58-4910-84DF-DA0F8FA489F1}"/>
              </a:ext>
            </a:extLst>
          </p:cNvPr>
          <p:cNvSpPr txBox="1"/>
          <p:nvPr/>
        </p:nvSpPr>
        <p:spPr>
          <a:xfrm>
            <a:off x="8042436" y="5222763"/>
            <a:ext cx="357156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_merge==1 </a:t>
            </a:r>
            <a:r>
              <a:rPr lang="en-US" dirty="0"/>
              <a:t>means this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Doc_ID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/>
              <a:t>only appears </a:t>
            </a:r>
            <a:r>
              <a:rPr lang="en-US" dirty="0">
                <a:cs typeface="Courier New" panose="02070309020205020404" pitchFamily="49" charset="0"/>
              </a:rPr>
              <a:t>in master dataset</a:t>
            </a:r>
          </a:p>
          <a:p>
            <a:endParaRPr lang="en-US" dirty="0"/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60F9158F-1DF9-4AA0-8960-F11AEFD4AC6D}"/>
              </a:ext>
            </a:extLst>
          </p:cNvPr>
          <p:cNvCxnSpPr>
            <a:cxnSpLocks/>
          </p:cNvCxnSpPr>
          <p:nvPr/>
        </p:nvCxnSpPr>
        <p:spPr>
          <a:xfrm flipV="1">
            <a:off x="9680895" y="4815281"/>
            <a:ext cx="729843" cy="407482"/>
          </a:xfrm>
          <a:prstGeom prst="straightConnector1">
            <a:avLst/>
          </a:prstGeom>
          <a:ln>
            <a:solidFill>
              <a:srgbClr val="DFE3E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8" name="Table 8">
            <a:extLst>
              <a:ext uri="{FF2B5EF4-FFF2-40B4-BE49-F238E27FC236}">
                <a16:creationId xmlns:a16="http://schemas.microsoft.com/office/drawing/2014/main" id="{D427DE87-C30A-4AAB-AE57-6EAB0129C97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19496331"/>
              </p:ext>
            </p:extLst>
          </p:nvPr>
        </p:nvGraphicFramePr>
        <p:xfrm>
          <a:off x="894454" y="3251417"/>
          <a:ext cx="2675395" cy="109728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978406">
                  <a:extLst>
                    <a:ext uri="{9D8B030D-6E8A-4147-A177-3AD203B41FA5}">
                      <a16:colId xmlns:a16="http://schemas.microsoft.com/office/drawing/2014/main" val="2808929865"/>
                    </a:ext>
                  </a:extLst>
                </a:gridCol>
                <a:gridCol w="851377">
                  <a:extLst>
                    <a:ext uri="{9D8B030D-6E8A-4147-A177-3AD203B41FA5}">
                      <a16:colId xmlns:a16="http://schemas.microsoft.com/office/drawing/2014/main" val="1630882493"/>
                    </a:ext>
                  </a:extLst>
                </a:gridCol>
                <a:gridCol w="845612">
                  <a:extLst>
                    <a:ext uri="{9D8B030D-6E8A-4147-A177-3AD203B41FA5}">
                      <a16:colId xmlns:a16="http://schemas.microsoft.com/office/drawing/2014/main" val="313183231"/>
                    </a:ext>
                  </a:extLst>
                </a:gridCol>
              </a:tblGrid>
              <a:tr h="255693">
                <a:tc>
                  <a:txBody>
                    <a:bodyPr/>
                    <a:lstStyle/>
                    <a:p>
                      <a:r>
                        <a:rPr lang="en-US" sz="12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Doc_ID</a:t>
                      </a:r>
                      <a:endParaRPr lang="en-US" sz="12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Doc_yrs</a:t>
                      </a:r>
                      <a:endParaRPr lang="en-US" sz="12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Doc_gen</a:t>
                      </a:r>
                      <a:endParaRPr lang="en-US" sz="12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8777872"/>
                  </a:ext>
                </a:extLst>
              </a:tr>
              <a:tr h="255693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5859145"/>
                  </a:ext>
                </a:extLst>
              </a:tr>
              <a:tr h="255693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7003230"/>
                  </a:ext>
                </a:extLst>
              </a:tr>
              <a:tr h="255693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56834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1671799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807F9D-F49E-48CE-9373-2B8BAC3677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merge m:1</a:t>
            </a:r>
            <a:r>
              <a:rPr lang="en-US" dirty="0"/>
              <a:t> and 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merge 1:m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37269D-C6CC-4D93-AA14-79D18A59341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cs typeface="Courier New" panose="02070309020205020404" pitchFamily="49" charset="0"/>
              </a:rPr>
              <a:t>Many-to-one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merge m:1 </a:t>
            </a:r>
            <a:r>
              <a:rPr lang="en-US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varlist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using </a:t>
            </a:r>
            <a:r>
              <a:rPr lang="en-US" i="1" dirty="0">
                <a:latin typeface="Courier New" panose="02070309020205020404" pitchFamily="49" charset="0"/>
                <a:cs typeface="Courier New" panose="02070309020205020404" pitchFamily="49" charset="0"/>
              </a:rPr>
              <a:t>filename</a:t>
            </a:r>
          </a:p>
          <a:p>
            <a:endParaRPr lang="en-US" dirty="0">
              <a:cs typeface="Courier New" panose="02070309020205020404" pitchFamily="49" charset="0"/>
            </a:endParaRPr>
          </a:p>
          <a:p>
            <a:r>
              <a:rPr lang="en-US" dirty="0">
                <a:cs typeface="Courier New" panose="02070309020205020404" pitchFamily="49" charset="0"/>
              </a:rPr>
              <a:t>One-to-many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merge 1:m </a:t>
            </a:r>
            <a:r>
              <a:rPr lang="en-US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varlist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using </a:t>
            </a:r>
            <a:r>
              <a:rPr lang="en-US" i="1" dirty="0">
                <a:latin typeface="Courier New" panose="02070309020205020404" pitchFamily="49" charset="0"/>
                <a:cs typeface="Courier New" panose="02070309020205020404" pitchFamily="49" charset="0"/>
              </a:rPr>
              <a:t>filename</a:t>
            </a:r>
          </a:p>
          <a:p>
            <a:pPr lvl="1"/>
            <a:endParaRPr lang="en-US" i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varlist</a:t>
            </a:r>
            <a:r>
              <a:rPr lang="en-US" i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cs typeface="Courier New" panose="02070309020205020404" pitchFamily="49" charset="0"/>
              </a:rPr>
              <a:t>is one or more id variables</a:t>
            </a:r>
            <a:endParaRPr lang="en-US" i="1" dirty="0">
              <a:cs typeface="Courier New" panose="02070309020205020404" pitchFamily="49" charset="0"/>
            </a:endParaRPr>
          </a:p>
          <a:p>
            <a:pPr lvl="1"/>
            <a:r>
              <a:rPr lang="en-US" i="1" dirty="0">
                <a:latin typeface="Courier New" panose="02070309020205020404" pitchFamily="49" charset="0"/>
                <a:cs typeface="Courier New" panose="02070309020205020404" pitchFamily="49" charset="0"/>
              </a:rPr>
              <a:t>filename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/>
              <a:t>is using data set file name</a:t>
            </a:r>
          </a:p>
          <a:p>
            <a:endParaRPr lang="en-US" i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i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0A868F-EB18-4D38-80F7-41B702B57A4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169A1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*each </a:t>
            </a:r>
            <a:r>
              <a:rPr lang="en-US" dirty="0" err="1">
                <a:solidFill>
                  <a:srgbClr val="169A1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docid</a:t>
            </a:r>
            <a:r>
              <a:rPr lang="en-US" dirty="0">
                <a:solidFill>
                  <a:srgbClr val="169A1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appears multiple times in</a:t>
            </a:r>
          </a:p>
          <a:p>
            <a:pPr marL="0" indent="0">
              <a:buNone/>
            </a:pPr>
            <a:r>
              <a:rPr lang="en-US" dirty="0">
                <a:solidFill>
                  <a:srgbClr val="169A16"/>
                </a:solidFill>
              </a:rPr>
              <a:t>* master data, once in using data</a:t>
            </a:r>
            <a:endParaRPr lang="en-US" dirty="0">
              <a:solidFill>
                <a:srgbClr val="169A1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merge m:1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docid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using “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dm_doctor_data.dta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228140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069848" y="747332"/>
            <a:ext cx="5632704" cy="491947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6600" dirty="0"/>
              <a:t>Looping</a:t>
            </a:r>
            <a:endParaRPr lang="en-US" sz="6600" dirty="0">
              <a:solidFill>
                <a:schemeClr val="tx2"/>
              </a:solidFill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0589F42-419C-40E1-B7B9-1B763E90E0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571232" y="749808"/>
            <a:ext cx="3995928" cy="4916996"/>
          </a:xfrm>
        </p:spPr>
        <p:txBody>
          <a:bodyPr/>
          <a:lstStyle/>
          <a:p>
            <a:endParaRPr lang="en-US" dirty="0"/>
          </a:p>
          <a:p>
            <a:endParaRPr lang="en-US" cap="none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cap="none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dirty="0"/>
          </a:p>
          <a:p>
            <a:r>
              <a:rPr lang="en-US" dirty="0"/>
              <a:t>foreach</a:t>
            </a:r>
          </a:p>
          <a:p>
            <a:r>
              <a:rPr lang="en-US" dirty="0" err="1"/>
              <a:t>forvalues</a:t>
            </a:r>
            <a:endParaRPr lang="en-US" cap="none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090716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Loops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Loops are a programmer’s tool to perform some task repeatedly over a set of items.</a:t>
            </a:r>
          </a:p>
          <a:p>
            <a:r>
              <a:rPr lang="en-US" dirty="0"/>
              <a:t>For example, this Stata loop:</a:t>
            </a:r>
          </a:p>
          <a:p>
            <a:pPr>
              <a:spcBef>
                <a:spcPts val="600"/>
              </a:spcBef>
              <a:spcAft>
                <a:spcPts val="0"/>
              </a:spcAft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foreach var of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varlist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x y z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summ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`var’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gen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copy_`var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’ = `var’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r>
              <a:rPr lang="en-US" dirty="0"/>
              <a:t>Is equivalent to running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7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summ</a:t>
            </a:r>
            <a:r>
              <a:rPr lang="en-US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 x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gen </a:t>
            </a:r>
            <a:r>
              <a:rPr lang="en-US" sz="17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copy_x</a:t>
            </a:r>
            <a:r>
              <a:rPr lang="en-US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 = x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7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summ</a:t>
            </a:r>
            <a:r>
              <a:rPr lang="en-US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 y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gen </a:t>
            </a:r>
            <a:r>
              <a:rPr lang="en-US" sz="17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copy_y</a:t>
            </a:r>
            <a:r>
              <a:rPr lang="en-US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 = y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7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summ</a:t>
            </a:r>
            <a:r>
              <a:rPr lang="en-US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 z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gen </a:t>
            </a:r>
            <a:r>
              <a:rPr lang="en-US" sz="17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copy_z</a:t>
            </a:r>
            <a:r>
              <a:rPr lang="en-US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 = z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0AC6F03-E2E4-478A-B47A-72FE85726B06}"/>
              </a:ext>
            </a:extLst>
          </p:cNvPr>
          <p:cNvSpPr txBox="1"/>
          <p:nvPr/>
        </p:nvSpPr>
        <p:spPr>
          <a:xfrm>
            <a:off x="5201174" y="3057787"/>
            <a:ext cx="5536734" cy="2308324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var</a:t>
            </a:r>
            <a:r>
              <a:rPr lang="en-US" dirty="0">
                <a:cs typeface="Courier New" panose="02070309020205020404" pitchFamily="49" charset="0"/>
              </a:rPr>
              <a:t> is known as a Stata </a:t>
            </a:r>
            <a:r>
              <a:rPr lang="en-US" i="1" dirty="0">
                <a:cs typeface="Courier New" panose="02070309020205020404" pitchFamily="49" charset="0"/>
              </a:rPr>
              <a:t>macro variable</a:t>
            </a:r>
            <a:r>
              <a:rPr lang="en-US" dirty="0">
                <a:cs typeface="Courier New" panose="02070309020205020404" pitchFamily="49" charset="0"/>
              </a:rPr>
              <a:t>, a temporary variable (not related to the data set) that can hold string values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dirty="0">
                <a:cs typeface="Courier New" panose="02070309020205020404" pitchFamily="49" charset="0"/>
              </a:rPr>
              <a:t>The word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var</a:t>
            </a:r>
            <a:r>
              <a:rPr lang="en-US" dirty="0">
                <a:cs typeface="Courier New" panose="02070309020205020404" pitchFamily="49" charset="0"/>
              </a:rPr>
              <a:t> is arbitrary and can be any word you like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varlist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cs typeface="Courier New" panose="02070309020205020404" pitchFamily="49" charset="0"/>
              </a:rPr>
              <a:t>tells Stata that the strings following are variable names</a:t>
            </a:r>
          </a:p>
        </p:txBody>
      </p:sp>
    </p:spTree>
    <p:extLst>
      <p:ext uri="{BB962C8B-B14F-4D97-AF65-F5344CB8AC3E}">
        <p14:creationId xmlns:p14="http://schemas.microsoft.com/office/powerpoint/2010/main" val="3787431724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Loops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Loops are a programmer’s tool to perform some task repeatedly over a set of items.</a:t>
            </a:r>
          </a:p>
          <a:p>
            <a:r>
              <a:rPr lang="en-US" dirty="0"/>
              <a:t>For example, this Stata loop:</a:t>
            </a:r>
          </a:p>
          <a:p>
            <a:pPr>
              <a:spcBef>
                <a:spcPts val="600"/>
              </a:spcBef>
              <a:spcAft>
                <a:spcPts val="0"/>
              </a:spcAft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foreach var of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varlist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x y z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summ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`var’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gen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copy_`var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’ = `var’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US" sz="17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700" dirty="0">
                <a:cs typeface="Courier New" panose="02070309020205020404" pitchFamily="49" charset="0"/>
              </a:rPr>
              <a:t>1</a:t>
            </a:r>
            <a:r>
              <a:rPr lang="en-US" sz="1700" baseline="30000" dirty="0">
                <a:cs typeface="Courier New" panose="02070309020205020404" pitchFamily="49" charset="0"/>
              </a:rPr>
              <a:t>st</a:t>
            </a:r>
            <a:r>
              <a:rPr lang="en-US" sz="1700" dirty="0">
                <a:cs typeface="Courier New" panose="02070309020205020404" pitchFamily="49" charset="0"/>
              </a:rPr>
              <a:t> pass through loop: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7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summ</a:t>
            </a:r>
            <a:r>
              <a:rPr lang="en-US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 x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gen </a:t>
            </a:r>
            <a:r>
              <a:rPr lang="en-US" sz="17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copy_x</a:t>
            </a:r>
            <a:r>
              <a:rPr lang="en-US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 = x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0AC6F03-E2E4-478A-B47A-72FE85726B06}"/>
              </a:ext>
            </a:extLst>
          </p:cNvPr>
          <p:cNvSpPr txBox="1"/>
          <p:nvPr/>
        </p:nvSpPr>
        <p:spPr>
          <a:xfrm>
            <a:off x="4882393" y="3395749"/>
            <a:ext cx="5536734" cy="92333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dirty="0">
                <a:cs typeface="Courier New" panose="02070309020205020404" pitchFamily="49" charset="0"/>
              </a:rPr>
              <a:t>Initially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var </a:t>
            </a:r>
            <a:r>
              <a:rPr lang="en-US" dirty="0">
                <a:cs typeface="Courier New" panose="02070309020205020404" pitchFamily="49" charset="0"/>
              </a:rPr>
              <a:t>will be set equal to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x, </a:t>
            </a:r>
            <a:r>
              <a:rPr lang="en-US" dirty="0">
                <a:cs typeface="Courier New" panose="02070309020205020404" pitchFamily="49" charset="0"/>
              </a:rPr>
              <a:t>and then the commands within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{}</a:t>
            </a:r>
            <a:r>
              <a:rPr lang="en-US" dirty="0">
                <a:cs typeface="Courier New" panose="02070309020205020404" pitchFamily="49" charset="0"/>
              </a:rPr>
              <a:t> are run;  wherever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`var’ </a:t>
            </a:r>
            <a:r>
              <a:rPr lang="en-US" dirty="0">
                <a:cs typeface="Courier New" panose="02070309020205020404" pitchFamily="49" charset="0"/>
              </a:rPr>
              <a:t>appears, replace with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lang="en-US" dirty="0">
                <a:cs typeface="Courier New" panose="02070309020205020404" pitchFamily="49" charset="0"/>
              </a:rPr>
              <a:t>.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4391668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Loops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Loops are a programmer’s tool to perform some task repeatedly over a set of items.</a:t>
            </a:r>
          </a:p>
          <a:p>
            <a:r>
              <a:rPr lang="en-US" dirty="0"/>
              <a:t>For example, this Stata loop:</a:t>
            </a:r>
          </a:p>
          <a:p>
            <a:pPr>
              <a:spcBef>
                <a:spcPts val="600"/>
              </a:spcBef>
              <a:spcAft>
                <a:spcPts val="0"/>
              </a:spcAft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foreach var of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varlist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x y z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summ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`var’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gen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copy_`var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’ = `var’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US" sz="17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700" dirty="0">
                <a:cs typeface="Courier New" panose="02070309020205020404" pitchFamily="49" charset="0"/>
              </a:rPr>
              <a:t>2</a:t>
            </a:r>
            <a:r>
              <a:rPr lang="en-US" sz="1700" baseline="30000" dirty="0">
                <a:cs typeface="Courier New" panose="02070309020205020404" pitchFamily="49" charset="0"/>
              </a:rPr>
              <a:t>nd</a:t>
            </a:r>
            <a:r>
              <a:rPr lang="en-US" sz="1700" dirty="0">
                <a:cs typeface="Courier New" panose="02070309020205020404" pitchFamily="49" charset="0"/>
              </a:rPr>
              <a:t> pass through loop: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7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summ</a:t>
            </a:r>
            <a:r>
              <a:rPr lang="en-US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 y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gen </a:t>
            </a:r>
            <a:r>
              <a:rPr lang="en-US" sz="17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copy_y</a:t>
            </a:r>
            <a:r>
              <a:rPr lang="en-US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 = y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0AC6F03-E2E4-478A-B47A-72FE85726B06}"/>
              </a:ext>
            </a:extLst>
          </p:cNvPr>
          <p:cNvSpPr txBox="1"/>
          <p:nvPr/>
        </p:nvSpPr>
        <p:spPr>
          <a:xfrm>
            <a:off x="4882393" y="3395749"/>
            <a:ext cx="5536734" cy="646331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dirty="0">
                <a:cs typeface="Courier New" panose="02070309020205020404" pitchFamily="49" charset="0"/>
              </a:rPr>
              <a:t>Then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var </a:t>
            </a:r>
            <a:r>
              <a:rPr lang="en-US" dirty="0">
                <a:cs typeface="Courier New" panose="02070309020205020404" pitchFamily="49" charset="0"/>
              </a:rPr>
              <a:t>becomes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y, </a:t>
            </a:r>
            <a:r>
              <a:rPr lang="en-US" dirty="0">
                <a:cs typeface="Courier New" panose="02070309020205020404" pitchFamily="49" charset="0"/>
              </a:rPr>
              <a:t>the commands within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{} </a:t>
            </a:r>
            <a:r>
              <a:rPr lang="en-US" dirty="0">
                <a:cs typeface="Courier New" panose="02070309020205020404" pitchFamily="49" charset="0"/>
              </a:rPr>
              <a:t>are run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dirty="0">
                <a:cs typeface="Courier New" panose="02070309020205020404" pitchFamily="49" charset="0"/>
              </a:rPr>
              <a:t> replace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`var’</a:t>
            </a:r>
            <a:r>
              <a:rPr lang="en-US" dirty="0">
                <a:cs typeface="Courier New" panose="02070309020205020404" pitchFamily="49" charset="0"/>
              </a:rPr>
              <a:t> with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y</a:t>
            </a:r>
          </a:p>
        </p:txBody>
      </p:sp>
    </p:spTree>
    <p:extLst>
      <p:ext uri="{BB962C8B-B14F-4D97-AF65-F5344CB8AC3E}">
        <p14:creationId xmlns:p14="http://schemas.microsoft.com/office/powerpoint/2010/main" val="3716678538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Loops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Loops are a programmer’s tool to perform some task repeatedly over a set of items.</a:t>
            </a:r>
          </a:p>
          <a:p>
            <a:r>
              <a:rPr lang="en-US" dirty="0"/>
              <a:t>For example, this Stata loop:</a:t>
            </a:r>
          </a:p>
          <a:p>
            <a:pPr>
              <a:spcBef>
                <a:spcPts val="600"/>
              </a:spcBef>
              <a:spcAft>
                <a:spcPts val="0"/>
              </a:spcAft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foreach var of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varlist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x y z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summ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`var’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gen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copy_`var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’ = `var’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US" sz="17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700" dirty="0">
                <a:cs typeface="Courier New" panose="02070309020205020404" pitchFamily="49" charset="0"/>
              </a:rPr>
              <a:t>3</a:t>
            </a:r>
            <a:r>
              <a:rPr lang="en-US" sz="1700" baseline="30000" dirty="0">
                <a:cs typeface="Courier New" panose="02070309020205020404" pitchFamily="49" charset="0"/>
              </a:rPr>
              <a:t>rd</a:t>
            </a:r>
            <a:r>
              <a:rPr lang="en-US" sz="1700" dirty="0">
                <a:cs typeface="Courier New" panose="02070309020205020404" pitchFamily="49" charset="0"/>
              </a:rPr>
              <a:t> pass through loop: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7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summ</a:t>
            </a:r>
            <a:r>
              <a:rPr lang="en-US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 z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gen </a:t>
            </a:r>
            <a:r>
              <a:rPr lang="en-US" sz="17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copy_z</a:t>
            </a:r>
            <a:r>
              <a:rPr lang="en-US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 = z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0AC6F03-E2E4-478A-B47A-72FE85726B06}"/>
              </a:ext>
            </a:extLst>
          </p:cNvPr>
          <p:cNvSpPr txBox="1"/>
          <p:nvPr/>
        </p:nvSpPr>
        <p:spPr>
          <a:xfrm>
            <a:off x="5377343" y="3488082"/>
            <a:ext cx="3347207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dirty="0">
                <a:cs typeface="Courier New" panose="02070309020205020404" pitchFamily="49" charset="0"/>
              </a:rPr>
              <a:t>Repeat for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z …</a:t>
            </a:r>
          </a:p>
        </p:txBody>
      </p:sp>
    </p:spTree>
    <p:extLst>
      <p:ext uri="{BB962C8B-B14F-4D97-AF65-F5344CB8AC3E}">
        <p14:creationId xmlns:p14="http://schemas.microsoft.com/office/powerpoint/2010/main" val="231261940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Stata loops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 general, Stata loops will consist of:</a:t>
            </a:r>
          </a:p>
          <a:p>
            <a:pPr lvl="1"/>
            <a:r>
              <a:rPr lang="en-US" dirty="0"/>
              <a:t>A macro variable that sequentially takes on the values of a set of items </a:t>
            </a:r>
          </a:p>
          <a:p>
            <a:pPr lvl="1"/>
            <a:r>
              <a:rPr lang="en-US" dirty="0"/>
              <a:t>A set of commands within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{}</a:t>
            </a:r>
          </a:p>
          <a:p>
            <a:pPr lvl="1"/>
            <a:r>
              <a:rPr lang="en-US" dirty="0"/>
              <a:t>Calls to the contents of the macro variable with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`</a:t>
            </a:r>
            <a:r>
              <a:rPr lang="en-US" i="1" dirty="0">
                <a:latin typeface="Courier New" panose="02070309020205020404" pitchFamily="49" charset="0"/>
                <a:cs typeface="Courier New" panose="02070309020205020404" pitchFamily="49" charset="0"/>
              </a:rPr>
              <a:t>macro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’</a:t>
            </a:r>
            <a:r>
              <a:rPr lang="en-US" dirty="0"/>
              <a:t>, where </a:t>
            </a:r>
            <a:r>
              <a:rPr lang="en-US" i="1" dirty="0">
                <a:latin typeface="Courier New" panose="02070309020205020404" pitchFamily="49" charset="0"/>
                <a:cs typeface="Courier New" panose="02070309020205020404" pitchFamily="49" charset="0"/>
              </a:rPr>
              <a:t>macro</a:t>
            </a:r>
            <a:r>
              <a:rPr lang="en-US" dirty="0"/>
              <a:t> is the macro variable name</a:t>
            </a:r>
          </a:p>
          <a:p>
            <a:pPr lvl="2"/>
            <a:r>
              <a:rPr lang="en-US" dirty="0"/>
              <a:t>when the loop commands execute, `</a:t>
            </a:r>
            <a:r>
              <a:rPr lang="en-US" i="1" dirty="0">
                <a:latin typeface="Courier New" panose="02070309020205020404" pitchFamily="49" charset="0"/>
                <a:cs typeface="Courier New" panose="02070309020205020404" pitchFamily="49" charset="0"/>
              </a:rPr>
              <a:t>macro</a:t>
            </a:r>
            <a:r>
              <a:rPr lang="en-US" dirty="0"/>
              <a:t>’ will be replaced by its current contents</a:t>
            </a:r>
          </a:p>
          <a:p>
            <a:endParaRPr lang="en-US" dirty="0"/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735424C-F043-4A0C-9CEC-F76C1DCAF5B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>
                <a:solidFill>
                  <a:srgbClr val="169A16"/>
                </a:solidFill>
              </a:rPr>
              <a:t>* ^ means “to the power”</a:t>
            </a:r>
          </a:p>
          <a:p>
            <a:r>
              <a:rPr lang="en-US" dirty="0" err="1"/>
              <a:t>forvalues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= 2/4 {</a:t>
            </a:r>
          </a:p>
          <a:p>
            <a:r>
              <a:rPr lang="en-US" dirty="0"/>
              <a:t>   gen </a:t>
            </a:r>
            <a:r>
              <a:rPr lang="en-US" dirty="0" err="1"/>
              <a:t>test`i</a:t>
            </a:r>
            <a:r>
              <a:rPr lang="en-US" dirty="0"/>
              <a:t>’ = test^`</a:t>
            </a:r>
            <a:r>
              <a:rPr lang="en-US" dirty="0" err="1"/>
              <a:t>i</a:t>
            </a:r>
            <a:r>
              <a:rPr lang="en-US" dirty="0"/>
              <a:t>’ </a:t>
            </a:r>
          </a:p>
          <a:p>
            <a:r>
              <a:rPr lang="en-US" dirty="0"/>
              <a:t>   </a:t>
            </a:r>
            <a:r>
              <a:rPr lang="en-US" dirty="0" err="1"/>
              <a:t>summ</a:t>
            </a:r>
            <a:r>
              <a:rPr lang="en-US" dirty="0"/>
              <a:t> </a:t>
            </a:r>
            <a:r>
              <a:rPr lang="en-US" dirty="0" err="1"/>
              <a:t>test`i</a:t>
            </a:r>
            <a:r>
              <a:rPr lang="en-US" dirty="0"/>
              <a:t>’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>
                <a:solidFill>
                  <a:srgbClr val="169A16"/>
                </a:solidFill>
              </a:rPr>
              <a:t>*loop above is equivalent to</a:t>
            </a:r>
          </a:p>
          <a:p>
            <a:r>
              <a:rPr lang="en-US" dirty="0"/>
              <a:t>gen test2 = test^2</a:t>
            </a:r>
          </a:p>
          <a:p>
            <a:r>
              <a:rPr lang="en-US" dirty="0" err="1"/>
              <a:t>summ</a:t>
            </a:r>
            <a:r>
              <a:rPr lang="en-US" dirty="0"/>
              <a:t> test2</a:t>
            </a:r>
          </a:p>
          <a:p>
            <a:r>
              <a:rPr lang="en-US" dirty="0"/>
              <a:t>gen test3 = test^3</a:t>
            </a:r>
          </a:p>
          <a:p>
            <a:r>
              <a:rPr lang="en-US" dirty="0" err="1"/>
              <a:t>summ</a:t>
            </a:r>
            <a:r>
              <a:rPr lang="en-US" dirty="0"/>
              <a:t> test3</a:t>
            </a:r>
          </a:p>
          <a:p>
            <a:r>
              <a:rPr lang="en-US" dirty="0"/>
              <a:t>gen test4 = test*4</a:t>
            </a:r>
          </a:p>
          <a:p>
            <a:r>
              <a:rPr lang="en-US" dirty="0" err="1"/>
              <a:t>summ</a:t>
            </a:r>
            <a:r>
              <a:rPr lang="en-US" dirty="0"/>
              <a:t> test4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644549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cap="none" dirty="0">
                <a:latin typeface="Courier New" panose="02070309020205020404" pitchFamily="49" charset="0"/>
                <a:cs typeface="Courier New" panose="02070309020205020404" pitchFamily="49" charset="0"/>
              </a:rPr>
              <a:t>foreach: </a:t>
            </a:r>
            <a:r>
              <a:rPr lang="en-US" cap="none" dirty="0">
                <a:latin typeface="+mn-lt"/>
                <a:cs typeface="Courier New" panose="02070309020205020404" pitchFamily="49" charset="0"/>
              </a:rPr>
              <a:t>looping over variables</a:t>
            </a:r>
            <a:endParaRPr lang="en-US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foreach </a:t>
            </a:r>
            <a:r>
              <a:rPr lang="en-US" i="1" dirty="0">
                <a:latin typeface="Courier New" panose="02070309020205020404" pitchFamily="49" charset="0"/>
                <a:cs typeface="Courier New" panose="02070309020205020404" pitchFamily="49" charset="0"/>
              </a:rPr>
              <a:t>macro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of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varlist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varlist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i="1" dirty="0">
                <a:latin typeface="Courier New" panose="02070309020205020404" pitchFamily="49" charset="0"/>
                <a:cs typeface="Courier New" panose="02070309020205020404" pitchFamily="49" charset="0"/>
              </a:rPr>
              <a:t>commands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r>
              <a:rPr lang="en-US" i="1" dirty="0">
                <a:latin typeface="Courier New" panose="02070309020205020404" pitchFamily="49" charset="0"/>
                <a:cs typeface="Courier New" panose="02070309020205020404" pitchFamily="49" charset="0"/>
              </a:rPr>
              <a:t>macro</a:t>
            </a:r>
            <a:r>
              <a:rPr lang="en-US" dirty="0"/>
              <a:t>: name of variable that takes on values in </a:t>
            </a:r>
            <a:r>
              <a:rPr lang="en-US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varlist</a:t>
            </a:r>
            <a:endParaRPr lang="en-US" i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varlist</a:t>
            </a:r>
            <a:r>
              <a:rPr lang="en-US" dirty="0"/>
              <a:t>: a list of variable names</a:t>
            </a:r>
          </a:p>
          <a:p>
            <a:r>
              <a:rPr lang="en-US" i="1" dirty="0">
                <a:latin typeface="Courier New" panose="02070309020205020404" pitchFamily="49" charset="0"/>
                <a:cs typeface="Courier New" panose="02070309020205020404" pitchFamily="49" charset="0"/>
              </a:rPr>
              <a:t>commands</a:t>
            </a:r>
            <a:r>
              <a:rPr lang="en-US" dirty="0"/>
              <a:t>: Stata commands to run each time loop iterates</a:t>
            </a:r>
          </a:p>
          <a:p>
            <a:pPr lvl="1"/>
            <a:r>
              <a:rPr lang="en-US" dirty="0"/>
              <a:t>Use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`’</a:t>
            </a:r>
            <a:r>
              <a:rPr lang="en-US" dirty="0"/>
              <a:t> with macro name to substitute contents of macro</a:t>
            </a:r>
          </a:p>
          <a:p>
            <a:r>
              <a:rPr lang="en-US" dirty="0"/>
              <a:t>Opening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r>
              <a:rPr lang="en-US" dirty="0"/>
              <a:t> must be on the first line </a:t>
            </a:r>
          </a:p>
          <a:p>
            <a:r>
              <a:rPr lang="en-US" dirty="0"/>
              <a:t>Closing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r>
              <a:rPr lang="en-US" dirty="0"/>
              <a:t> must be by itself on the last line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foreach </a:t>
            </a:r>
            <a:r>
              <a:rPr lang="en-US" dirty="0"/>
              <a:t>Can loop over many other kinds of lists besides variables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58EFF0-D3CC-4A1E-9F3D-A5F2E55B5A4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>
                <a:solidFill>
                  <a:srgbClr val="169A16"/>
                </a:solidFill>
              </a:rPr>
              <a:t>* for more help with foreach loops</a:t>
            </a:r>
          </a:p>
          <a:p>
            <a:r>
              <a:rPr lang="en-US" dirty="0"/>
              <a:t>help foreach</a:t>
            </a:r>
          </a:p>
          <a:p>
            <a:endParaRPr lang="en-US" dirty="0"/>
          </a:p>
          <a:p>
            <a:r>
              <a:rPr lang="en-US" dirty="0">
                <a:solidFill>
                  <a:srgbClr val="169A16"/>
                </a:solidFill>
              </a:rPr>
              <a:t>*reverse-code three 1-7 Likert scale variables</a:t>
            </a:r>
          </a:p>
          <a:p>
            <a:r>
              <a:rPr lang="en-US" dirty="0">
                <a:solidFill>
                  <a:srgbClr val="169A16"/>
                </a:solidFill>
              </a:rPr>
              <a:t>* apply variable label</a:t>
            </a:r>
          </a:p>
          <a:p>
            <a:r>
              <a:rPr lang="en-US" dirty="0"/>
              <a:t>foreach var of </a:t>
            </a:r>
            <a:r>
              <a:rPr lang="en-US" dirty="0" err="1"/>
              <a:t>varlist</a:t>
            </a:r>
            <a:r>
              <a:rPr lang="en-US" dirty="0"/>
              <a:t> T1 T2 T3 {</a:t>
            </a:r>
          </a:p>
          <a:p>
            <a:r>
              <a:rPr lang="en-US" dirty="0"/>
              <a:t>  gen </a:t>
            </a:r>
            <a:r>
              <a:rPr lang="en-US" dirty="0" err="1"/>
              <a:t>rev_`var</a:t>
            </a:r>
            <a:r>
              <a:rPr lang="en-US" dirty="0"/>
              <a:t>’ = 8 - `var’</a:t>
            </a:r>
          </a:p>
          <a:p>
            <a:r>
              <a:rPr lang="en-US" dirty="0"/>
              <a:t>  label var </a:t>
            </a:r>
            <a:r>
              <a:rPr lang="en-US" dirty="0" err="1"/>
              <a:t>rev_`var</a:t>
            </a:r>
            <a:r>
              <a:rPr lang="en-US" dirty="0"/>
              <a:t>’ “Reverse-coded `var’”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>
                <a:solidFill>
                  <a:srgbClr val="169A16"/>
                </a:solidFill>
              </a:rPr>
              <a:t>*create copies of four variables</a:t>
            </a:r>
          </a:p>
          <a:p>
            <a:r>
              <a:rPr lang="en-US" dirty="0">
                <a:solidFill>
                  <a:srgbClr val="169A16"/>
                </a:solidFill>
              </a:rPr>
              <a:t>* where 4 is recoded to 3</a:t>
            </a:r>
          </a:p>
          <a:p>
            <a:r>
              <a:rPr lang="en-US" dirty="0"/>
              <a:t>foreach var of </a:t>
            </a:r>
            <a:r>
              <a:rPr lang="en-US" dirty="0" err="1"/>
              <a:t>varlist</a:t>
            </a:r>
            <a:r>
              <a:rPr lang="en-US" dirty="0"/>
              <a:t> X1 X2 X3 X4 {</a:t>
            </a:r>
          </a:p>
          <a:p>
            <a:r>
              <a:rPr lang="en-US" dirty="0"/>
              <a:t>  gen </a:t>
            </a:r>
            <a:r>
              <a:rPr lang="en-US" dirty="0" err="1"/>
              <a:t>new_`var</a:t>
            </a:r>
            <a:r>
              <a:rPr lang="en-US" dirty="0"/>
              <a:t>’ = `var’</a:t>
            </a:r>
          </a:p>
          <a:p>
            <a:r>
              <a:rPr lang="en-US" dirty="0"/>
              <a:t>  recode </a:t>
            </a:r>
            <a:r>
              <a:rPr lang="en-US" dirty="0" err="1"/>
              <a:t>new_`var</a:t>
            </a:r>
            <a:r>
              <a:rPr lang="en-US" dirty="0"/>
              <a:t>’ (4=3)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3445761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Use </a:t>
            </a:r>
            <a:r>
              <a:rPr lang="en-US" cap="none" dirty="0" err="1">
                <a:latin typeface="Courier New" panose="02070309020205020404" pitchFamily="49" charset="0"/>
                <a:cs typeface="Courier New" panose="02070309020205020404" pitchFamily="49" charset="0"/>
              </a:rPr>
              <a:t>forvalues</a:t>
            </a:r>
            <a:r>
              <a:rPr lang="en-US" dirty="0"/>
              <a:t> to loop over numbers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foreach </a:t>
            </a:r>
            <a:r>
              <a:rPr lang="en-US" i="1" dirty="0">
                <a:latin typeface="Courier New" panose="02070309020205020404" pitchFamily="49" charset="0"/>
                <a:cs typeface="Courier New" panose="02070309020205020404" pitchFamily="49" charset="0"/>
              </a:rPr>
              <a:t>macro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i="1" dirty="0">
                <a:latin typeface="Courier New" panose="02070309020205020404" pitchFamily="49" charset="0"/>
                <a:cs typeface="Courier New" panose="02070309020205020404" pitchFamily="49" charset="0"/>
              </a:rPr>
              <a:t>range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i="1" dirty="0">
                <a:latin typeface="Courier New" panose="02070309020205020404" pitchFamily="49" charset="0"/>
                <a:cs typeface="Courier New" panose="02070309020205020404" pitchFamily="49" charset="0"/>
              </a:rPr>
              <a:t>commands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r>
              <a:rPr lang="en-US" i="1" dirty="0">
                <a:latin typeface="Courier New" panose="02070309020205020404" pitchFamily="49" charset="0"/>
                <a:cs typeface="Courier New" panose="02070309020205020404" pitchFamily="49" charset="0"/>
              </a:rPr>
              <a:t>macro</a:t>
            </a:r>
            <a:r>
              <a:rPr lang="en-US" dirty="0"/>
              <a:t>: name of variable that takes on values in </a:t>
            </a:r>
            <a:r>
              <a:rPr lang="en-US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varlist</a:t>
            </a:r>
            <a:endParaRPr lang="en-US" i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i="1" dirty="0">
                <a:latin typeface="Courier New" panose="02070309020205020404" pitchFamily="49" charset="0"/>
                <a:cs typeface="Courier New" panose="02070309020205020404" pitchFamily="49" charset="0"/>
              </a:rPr>
              <a:t>range</a:t>
            </a:r>
            <a:r>
              <a:rPr lang="en-US" dirty="0"/>
              <a:t>: a range of numbers, e.g.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1/10</a:t>
            </a:r>
            <a:r>
              <a:rPr lang="en-US" dirty="0"/>
              <a:t> or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1(2)</a:t>
            </a:r>
            <a:r>
              <a:rPr lang="en-US" dirty="0"/>
              <a:t>11</a:t>
            </a:r>
          </a:p>
          <a:p>
            <a:r>
              <a:rPr lang="en-US" i="1" dirty="0">
                <a:latin typeface="Courier New" panose="02070309020205020404" pitchFamily="49" charset="0"/>
                <a:cs typeface="Courier New" panose="02070309020205020404" pitchFamily="49" charset="0"/>
              </a:rPr>
              <a:t>commands</a:t>
            </a:r>
            <a:r>
              <a:rPr lang="en-US" dirty="0"/>
              <a:t>: Stata commands to run each time loop iterates</a:t>
            </a:r>
          </a:p>
          <a:p>
            <a:r>
              <a:rPr lang="en-US" dirty="0"/>
              <a:t>Opening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r>
              <a:rPr lang="en-US" dirty="0"/>
              <a:t> must be on the first line </a:t>
            </a:r>
          </a:p>
          <a:p>
            <a:r>
              <a:rPr lang="en-US" dirty="0"/>
              <a:t>Closing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r>
              <a:rPr lang="en-US" dirty="0"/>
              <a:t> must be by itself on the last line</a:t>
            </a: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AED199-1834-4B3F-A4C6-D0460E73B90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r>
              <a:rPr lang="en-US" dirty="0">
                <a:solidFill>
                  <a:srgbClr val="169A16"/>
                </a:solidFill>
              </a:rPr>
              <a:t>*create dummy variables for </a:t>
            </a:r>
          </a:p>
          <a:p>
            <a:r>
              <a:rPr lang="en-US" dirty="0">
                <a:solidFill>
                  <a:srgbClr val="169A16"/>
                </a:solidFill>
              </a:rPr>
              <a:t>* different age cutoffs</a:t>
            </a:r>
          </a:p>
          <a:p>
            <a:r>
              <a:rPr lang="en-US" dirty="0" err="1"/>
              <a:t>forvalues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= 40(10)60 {</a:t>
            </a:r>
          </a:p>
          <a:p>
            <a:r>
              <a:rPr lang="en-US" dirty="0"/>
              <a:t>  gen </a:t>
            </a:r>
            <a:r>
              <a:rPr lang="en-US" dirty="0" err="1"/>
              <a:t>age`i</a:t>
            </a:r>
            <a:r>
              <a:rPr lang="en-US" dirty="0"/>
              <a:t>’ = 0</a:t>
            </a:r>
          </a:p>
          <a:p>
            <a:r>
              <a:rPr lang="en-US" dirty="0"/>
              <a:t>  replace </a:t>
            </a:r>
            <a:r>
              <a:rPr lang="en-US" dirty="0" err="1"/>
              <a:t>age`i</a:t>
            </a:r>
            <a:r>
              <a:rPr lang="en-US" dirty="0"/>
              <a:t>’ = 1 if age &gt;= `</a:t>
            </a:r>
            <a:r>
              <a:rPr lang="en-US" dirty="0" err="1"/>
              <a:t>i</a:t>
            </a:r>
            <a:r>
              <a:rPr lang="en-US" dirty="0"/>
              <a:t>’</a:t>
            </a:r>
          </a:p>
          <a:p>
            <a:r>
              <a:rPr lang="en-US" dirty="0"/>
              <a:t>  replace </a:t>
            </a:r>
            <a:r>
              <a:rPr lang="en-US" dirty="0" err="1"/>
              <a:t>age`i</a:t>
            </a:r>
            <a:r>
              <a:rPr lang="en-US" dirty="0"/>
              <a:t>’ = . if age == .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>
                <a:solidFill>
                  <a:srgbClr val="169A16"/>
                </a:solidFill>
              </a:rPr>
              <a:t>*equivalent to</a:t>
            </a:r>
          </a:p>
          <a:p>
            <a:r>
              <a:rPr lang="en-US" dirty="0"/>
              <a:t>gen age40 = 0</a:t>
            </a:r>
          </a:p>
          <a:p>
            <a:r>
              <a:rPr lang="en-US" dirty="0"/>
              <a:t>replace age40 = 1 if age &gt;= 40 </a:t>
            </a:r>
          </a:p>
          <a:p>
            <a:r>
              <a:rPr lang="en-US" dirty="0"/>
              <a:t>replace age40 = . if age == .</a:t>
            </a:r>
          </a:p>
          <a:p>
            <a:r>
              <a:rPr lang="en-US" dirty="0"/>
              <a:t>gen age50 = 0</a:t>
            </a:r>
          </a:p>
          <a:p>
            <a:r>
              <a:rPr lang="en-US" dirty="0"/>
              <a:t>replace age50 = 1 if age &gt;= 50 </a:t>
            </a:r>
          </a:p>
          <a:p>
            <a:r>
              <a:rPr lang="en-US" dirty="0"/>
              <a:t>replace age50 = . if age == .</a:t>
            </a:r>
          </a:p>
          <a:p>
            <a:r>
              <a:rPr lang="en-US" dirty="0"/>
              <a:t>gen age60 = 0</a:t>
            </a:r>
          </a:p>
          <a:p>
            <a:r>
              <a:rPr lang="en-US" dirty="0"/>
              <a:t>replace age60 = 1 if age &gt;= 60 </a:t>
            </a:r>
          </a:p>
          <a:p>
            <a:r>
              <a:rPr lang="en-US" dirty="0"/>
              <a:t>replace age60 = . if age == 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2873442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069848" y="747332"/>
            <a:ext cx="5632704" cy="491947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6600" dirty="0"/>
              <a:t>Processing data by group</a:t>
            </a:r>
            <a:endParaRPr lang="en-US" sz="6600" dirty="0">
              <a:solidFill>
                <a:schemeClr val="tx2"/>
              </a:solidFill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0589F42-419C-40E1-B7B9-1B763E90E0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571232" y="749808"/>
            <a:ext cx="3995928" cy="4916996"/>
          </a:xfrm>
        </p:spPr>
        <p:txBody>
          <a:bodyPr/>
          <a:lstStyle/>
          <a:p>
            <a:endParaRPr lang="en-US" dirty="0"/>
          </a:p>
          <a:p>
            <a:endParaRPr lang="en-US" cap="none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cap="none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dirty="0"/>
          </a:p>
          <a:p>
            <a:r>
              <a:rPr lang="en-US" dirty="0"/>
              <a:t>sort</a:t>
            </a:r>
          </a:p>
          <a:p>
            <a:r>
              <a:rPr lang="en-US" dirty="0"/>
              <a:t>by:</a:t>
            </a:r>
          </a:p>
          <a:p>
            <a:r>
              <a:rPr lang="en-US" dirty="0" err="1"/>
              <a:t>b</a:t>
            </a:r>
            <a:r>
              <a:rPr lang="en-US" cap="none" dirty="0" err="1">
                <a:latin typeface="Courier New" panose="02070309020205020404" pitchFamily="49" charset="0"/>
                <a:cs typeface="Courier New" panose="02070309020205020404" pitchFamily="49" charset="0"/>
              </a:rPr>
              <a:t>ysort</a:t>
            </a:r>
            <a:r>
              <a:rPr lang="en-US" cap="none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US" i="1" dirty="0" err="1"/>
              <a:t>varname</a:t>
            </a:r>
            <a:r>
              <a:rPr lang="en-US" i="1" dirty="0"/>
              <a:t>[n]</a:t>
            </a:r>
            <a:endParaRPr lang="en-US" i="1" cap="none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2954024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Grouped data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Many datasets consist of grouped observations</a:t>
            </a:r>
          </a:p>
          <a:p>
            <a:pPr lvl="1"/>
            <a:r>
              <a:rPr lang="en-US" dirty="0"/>
              <a:t>observations were sampled in clusters (e.g. students sampled from schools)</a:t>
            </a:r>
          </a:p>
          <a:p>
            <a:pPr lvl="1"/>
            <a:r>
              <a:rPr lang="en-US" dirty="0"/>
              <a:t>repeated measurements of the same individual</a:t>
            </a:r>
          </a:p>
          <a:p>
            <a:r>
              <a:rPr lang="en-US" dirty="0"/>
              <a:t>With grouped data, we often want to generate variables and process data by groups</a:t>
            </a:r>
          </a:p>
          <a:p>
            <a:r>
              <a:rPr lang="en-US" dirty="0"/>
              <a:t>Examples:</a:t>
            </a:r>
          </a:p>
          <a:p>
            <a:pPr lvl="1"/>
            <a:r>
              <a:rPr lang="en-US" dirty="0"/>
              <a:t>The mean SAT math score for each classroom of students </a:t>
            </a:r>
          </a:p>
          <a:p>
            <a:pPr lvl="1"/>
            <a:r>
              <a:rPr lang="en-US" dirty="0"/>
              <a:t>In a longitudinal study of depression scores, a variable that records each person’s first (baseline) value of depression</a:t>
            </a:r>
          </a:p>
          <a:p>
            <a:pPr lvl="2"/>
            <a:r>
              <a:rPr lang="en-US" dirty="0"/>
              <a:t>Or a variable that represents depression from the previous timepoint (lagged depression)</a:t>
            </a:r>
          </a:p>
          <a:p>
            <a:endParaRPr lang="en-US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042D48B-8DB2-45CA-8569-8E3FF0EE83B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endParaRPr lang="en-US" dirty="0"/>
          </a:p>
        </p:txBody>
      </p:sp>
      <p:graphicFrame>
        <p:nvGraphicFramePr>
          <p:cNvPr id="6" name="Table 8">
            <a:extLst>
              <a:ext uri="{FF2B5EF4-FFF2-40B4-BE49-F238E27FC236}">
                <a16:creationId xmlns:a16="http://schemas.microsoft.com/office/drawing/2014/main" id="{17E14FF9-0A1D-427B-A54D-CEDEA2F641E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35705799"/>
              </p:ext>
            </p:extLst>
          </p:nvPr>
        </p:nvGraphicFramePr>
        <p:xfrm>
          <a:off x="6342612" y="1845734"/>
          <a:ext cx="3254394" cy="274320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179749">
                  <a:extLst>
                    <a:ext uri="{9D8B030D-6E8A-4147-A177-3AD203B41FA5}">
                      <a16:colId xmlns:a16="http://schemas.microsoft.com/office/drawing/2014/main" val="2808929865"/>
                    </a:ext>
                  </a:extLst>
                </a:gridCol>
                <a:gridCol w="1135078">
                  <a:extLst>
                    <a:ext uri="{9D8B030D-6E8A-4147-A177-3AD203B41FA5}">
                      <a16:colId xmlns:a16="http://schemas.microsoft.com/office/drawing/2014/main" val="1630882493"/>
                    </a:ext>
                  </a:extLst>
                </a:gridCol>
                <a:gridCol w="939567">
                  <a:extLst>
                    <a:ext uri="{9D8B030D-6E8A-4147-A177-3AD203B41FA5}">
                      <a16:colId xmlns:a16="http://schemas.microsoft.com/office/drawing/2014/main" val="313183231"/>
                    </a:ext>
                  </a:extLst>
                </a:gridCol>
              </a:tblGrid>
              <a:tr h="255693">
                <a:tc>
                  <a:txBody>
                    <a:bodyPr/>
                    <a:lstStyle/>
                    <a:p>
                      <a:r>
                        <a:rPr lang="en-US" sz="12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Class_ID</a:t>
                      </a:r>
                      <a:endParaRPr lang="en-US" sz="12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Student_ID</a:t>
                      </a:r>
                      <a:endParaRPr lang="en-US" sz="12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SAT_Math</a:t>
                      </a:r>
                      <a:endParaRPr lang="en-US" sz="12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8777872"/>
                  </a:ext>
                </a:extLst>
              </a:tr>
              <a:tr h="255693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>
                    <a:solidFill>
                      <a:schemeClr val="tx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101</a:t>
                      </a:r>
                    </a:p>
                  </a:txBody>
                  <a:tcPr>
                    <a:solidFill>
                      <a:schemeClr val="tx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620</a:t>
                      </a:r>
                    </a:p>
                  </a:txBody>
                  <a:tcPr>
                    <a:solidFill>
                      <a:schemeClr val="tx2">
                        <a:lumMod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5859145"/>
                  </a:ext>
                </a:extLst>
              </a:tr>
              <a:tr h="255693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>
                    <a:solidFill>
                      <a:schemeClr val="tx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102</a:t>
                      </a:r>
                    </a:p>
                  </a:txBody>
                  <a:tcPr>
                    <a:solidFill>
                      <a:schemeClr val="tx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650</a:t>
                      </a:r>
                    </a:p>
                  </a:txBody>
                  <a:tcPr>
                    <a:solidFill>
                      <a:schemeClr val="tx2">
                        <a:lumMod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7003230"/>
                  </a:ext>
                </a:extLst>
              </a:tr>
              <a:tr h="255693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>
                    <a:solidFill>
                      <a:schemeClr val="tx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103</a:t>
                      </a:r>
                    </a:p>
                  </a:txBody>
                  <a:tcPr>
                    <a:solidFill>
                      <a:schemeClr val="tx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710</a:t>
                      </a:r>
                    </a:p>
                  </a:txBody>
                  <a:tcPr>
                    <a:solidFill>
                      <a:schemeClr val="tx2">
                        <a:lumMod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5683422"/>
                  </a:ext>
                </a:extLst>
              </a:tr>
              <a:tr h="255693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520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7712685"/>
                  </a:ext>
                </a:extLst>
              </a:tr>
              <a:tr h="255693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620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3192532"/>
                  </a:ext>
                </a:extLst>
              </a:tr>
              <a:tr h="255693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510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429397"/>
                  </a:ext>
                </a:extLst>
              </a:tr>
              <a:tr h="255693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</a:t>
                      </a:r>
                    </a:p>
                  </a:txBody>
                  <a:tcPr>
                    <a:solidFill>
                      <a:schemeClr val="tx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301</a:t>
                      </a:r>
                    </a:p>
                  </a:txBody>
                  <a:tcPr>
                    <a:solidFill>
                      <a:schemeClr val="tx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490</a:t>
                      </a:r>
                    </a:p>
                  </a:txBody>
                  <a:tcPr>
                    <a:solidFill>
                      <a:schemeClr val="tx2">
                        <a:lumMod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428186"/>
                  </a:ext>
                </a:extLst>
              </a:tr>
              <a:tr h="255693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</a:t>
                      </a:r>
                    </a:p>
                  </a:txBody>
                  <a:tcPr>
                    <a:solidFill>
                      <a:schemeClr val="tx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302</a:t>
                      </a:r>
                    </a:p>
                  </a:txBody>
                  <a:tcPr>
                    <a:solidFill>
                      <a:schemeClr val="tx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450</a:t>
                      </a:r>
                    </a:p>
                  </a:txBody>
                  <a:tcPr>
                    <a:solidFill>
                      <a:schemeClr val="tx2">
                        <a:lumMod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018279"/>
                  </a:ext>
                </a:extLst>
              </a:tr>
              <a:tr h="255693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</a:t>
                      </a:r>
                    </a:p>
                  </a:txBody>
                  <a:tcPr>
                    <a:solidFill>
                      <a:schemeClr val="tx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303</a:t>
                      </a:r>
                    </a:p>
                  </a:txBody>
                  <a:tcPr>
                    <a:solidFill>
                      <a:schemeClr val="tx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680</a:t>
                      </a:r>
                    </a:p>
                  </a:txBody>
                  <a:tcPr>
                    <a:solidFill>
                      <a:schemeClr val="tx2">
                        <a:lumMod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3371824"/>
                  </a:ext>
                </a:extLst>
              </a:tr>
            </a:tbl>
          </a:graphicData>
        </a:graphic>
      </p:graphicFrame>
      <p:graphicFrame>
        <p:nvGraphicFramePr>
          <p:cNvPr id="7" name="Table 8">
            <a:extLst>
              <a:ext uri="{FF2B5EF4-FFF2-40B4-BE49-F238E27FC236}">
                <a16:creationId xmlns:a16="http://schemas.microsoft.com/office/drawing/2014/main" id="{4B4B5EB8-17E6-42F3-9301-EF6F0D4F2B3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77835774"/>
              </p:ext>
            </p:extLst>
          </p:nvPr>
        </p:nvGraphicFramePr>
        <p:xfrm>
          <a:off x="9721698" y="1845734"/>
          <a:ext cx="1071858" cy="274320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071858">
                  <a:extLst>
                    <a:ext uri="{9D8B030D-6E8A-4147-A177-3AD203B41FA5}">
                      <a16:colId xmlns:a16="http://schemas.microsoft.com/office/drawing/2014/main" val="313183231"/>
                    </a:ext>
                  </a:extLst>
                </a:gridCol>
              </a:tblGrid>
              <a:tr h="255693">
                <a:tc>
                  <a:txBody>
                    <a:bodyPr/>
                    <a:lstStyle/>
                    <a:p>
                      <a:r>
                        <a:rPr lang="en-US" sz="12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Mean_Math</a:t>
                      </a:r>
                      <a:endParaRPr lang="en-US" sz="12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8777872"/>
                  </a:ext>
                </a:extLst>
              </a:tr>
              <a:tr h="255693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660</a:t>
                      </a:r>
                    </a:p>
                  </a:txBody>
                  <a:tcPr>
                    <a:solidFill>
                      <a:schemeClr val="tx2">
                        <a:lumMod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5859145"/>
                  </a:ext>
                </a:extLst>
              </a:tr>
              <a:tr h="255693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660</a:t>
                      </a:r>
                    </a:p>
                  </a:txBody>
                  <a:tcPr>
                    <a:solidFill>
                      <a:schemeClr val="tx2">
                        <a:lumMod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7003230"/>
                  </a:ext>
                </a:extLst>
              </a:tr>
              <a:tr h="255693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660</a:t>
                      </a:r>
                    </a:p>
                  </a:txBody>
                  <a:tcPr>
                    <a:solidFill>
                      <a:schemeClr val="tx2">
                        <a:lumMod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5683422"/>
                  </a:ext>
                </a:extLst>
              </a:tr>
              <a:tr h="255693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550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7712685"/>
                  </a:ext>
                </a:extLst>
              </a:tr>
              <a:tr h="255693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550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3192532"/>
                  </a:ext>
                </a:extLst>
              </a:tr>
              <a:tr h="255693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550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429397"/>
                  </a:ext>
                </a:extLst>
              </a:tr>
              <a:tr h="255693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540</a:t>
                      </a:r>
                    </a:p>
                  </a:txBody>
                  <a:tcPr>
                    <a:solidFill>
                      <a:schemeClr val="tx2">
                        <a:lumMod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4432939"/>
                  </a:ext>
                </a:extLst>
              </a:tr>
              <a:tr h="255693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540</a:t>
                      </a:r>
                    </a:p>
                  </a:txBody>
                  <a:tcPr>
                    <a:solidFill>
                      <a:schemeClr val="tx2">
                        <a:lumMod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4578747"/>
                  </a:ext>
                </a:extLst>
              </a:tr>
              <a:tr h="255693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540</a:t>
                      </a:r>
                    </a:p>
                  </a:txBody>
                  <a:tcPr>
                    <a:solidFill>
                      <a:schemeClr val="tx2">
                        <a:lumMod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6195342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A454DA51-748D-4423-91DC-73442CC24D1C}"/>
              </a:ext>
            </a:extLst>
          </p:cNvPr>
          <p:cNvSpPr txBox="1"/>
          <p:nvPr/>
        </p:nvSpPr>
        <p:spPr>
          <a:xfrm>
            <a:off x="5637276" y="2971800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3E03AA5-55BB-40A1-8ACF-3B27194C7283}"/>
              </a:ext>
            </a:extLst>
          </p:cNvPr>
          <p:cNvSpPr txBox="1"/>
          <p:nvPr/>
        </p:nvSpPr>
        <p:spPr>
          <a:xfrm>
            <a:off x="5637276" y="2971800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5CB2E8C-4FE0-4D26-8A38-56CAEB6AAE46}"/>
              </a:ext>
            </a:extLst>
          </p:cNvPr>
          <p:cNvSpPr txBox="1"/>
          <p:nvPr/>
        </p:nvSpPr>
        <p:spPr>
          <a:xfrm>
            <a:off x="5637402" y="2973897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12106AE-D9D7-49FD-B8BF-7DCF1D91D7A4}"/>
              </a:ext>
            </a:extLst>
          </p:cNvPr>
          <p:cNvSpPr txBox="1"/>
          <p:nvPr/>
        </p:nvSpPr>
        <p:spPr>
          <a:xfrm>
            <a:off x="7586438" y="5044348"/>
            <a:ext cx="4021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dirty="0"/>
              <a:t>mean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SAT_math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/>
              <a:t>by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Class_ID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BBA2437-6172-4F59-8F16-E1F50360834A}"/>
              </a:ext>
            </a:extLst>
          </p:cNvPr>
          <p:cNvCxnSpPr/>
          <p:nvPr/>
        </p:nvCxnSpPr>
        <p:spPr>
          <a:xfrm flipV="1">
            <a:off x="9773174" y="4639268"/>
            <a:ext cx="218114" cy="455414"/>
          </a:xfrm>
          <a:prstGeom prst="straightConnector1">
            <a:avLst/>
          </a:prstGeom>
          <a:ln>
            <a:solidFill>
              <a:srgbClr val="DFE3E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01590795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cap="none" dirty="0">
                <a:latin typeface="Courier New" panose="02070309020205020404" pitchFamily="49" charset="0"/>
                <a:cs typeface="Courier New" panose="02070309020205020404" pitchFamily="49" charset="0"/>
              </a:rPr>
              <a:t>by</a:t>
            </a:r>
            <a:r>
              <a:rPr lang="en-US" dirty="0"/>
              <a:t> prefix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 processing by groups, we use the prefix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by </a:t>
            </a:r>
            <a:r>
              <a:rPr lang="en-US" dirty="0">
                <a:latin typeface="+mj-lt"/>
                <a:cs typeface="Courier New" panose="02070309020205020404" pitchFamily="49" charset="0"/>
              </a:rPr>
              <a:t>and a group variable</a:t>
            </a:r>
            <a:r>
              <a:rPr lang="en-US" dirty="0"/>
              <a:t>, which precede other Stata commands</a:t>
            </a:r>
          </a:p>
          <a:p>
            <a:r>
              <a:rPr lang="en-US" dirty="0"/>
              <a:t>In general the syntax will be: 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by </a:t>
            </a:r>
            <a:r>
              <a:rPr lang="en-US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varlist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en-US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stata_cmd</a:t>
            </a:r>
            <a:endParaRPr lang="en-US" dirty="0"/>
          </a:p>
          <a:p>
            <a:pPr lvl="1"/>
            <a:r>
              <a:rPr lang="en-US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varlist</a:t>
            </a:r>
            <a:r>
              <a:rPr lang="en-US" dirty="0"/>
              <a:t> is one or more grouping variables by which the data are to be processed</a:t>
            </a:r>
          </a:p>
          <a:p>
            <a:pPr lvl="1"/>
            <a:r>
              <a:rPr lang="en-US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stata_cmd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/>
              <a:t>is the Stata command to run on each group of data.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2989441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Data must be sorted before processing by group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Data must be sorted by the grouping variable before processing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by</a:t>
            </a:r>
            <a:r>
              <a:rPr lang="en-US" dirty="0"/>
              <a:t> that variable</a:t>
            </a:r>
          </a:p>
          <a:p>
            <a:pPr lvl="1"/>
            <a:r>
              <a:rPr lang="en-US" dirty="0"/>
              <a:t>Either use the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sort</a:t>
            </a:r>
            <a:r>
              <a:rPr lang="en-US" dirty="0"/>
              <a:t> command on the grouping before running any commands with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by…</a:t>
            </a:r>
          </a:p>
          <a:p>
            <a:pPr lvl="1"/>
            <a:r>
              <a:rPr lang="en-US" dirty="0"/>
              <a:t>…or use the prefix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bysort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en-US" dirty="0">
                <a:cs typeface="Courier New" panose="02070309020205020404" pitchFamily="49" charset="0"/>
              </a:rPr>
              <a:t>instead of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by</a:t>
            </a:r>
            <a:r>
              <a:rPr lang="en-US" dirty="0">
                <a:cs typeface="Courier New" panose="02070309020205020404" pitchFamily="49" charset="0"/>
              </a:rPr>
              <a:t>),</a:t>
            </a:r>
            <a:r>
              <a:rPr lang="en-US" dirty="0"/>
              <a:t> which sorts the data by the grouping variable(s) before processing by group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D05063-E2FA-4B5A-9CFA-236B795298D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>
                <a:solidFill>
                  <a:srgbClr val="169A16"/>
                </a:solidFill>
              </a:rPr>
              <a:t>*2 steps, sort first; </a:t>
            </a:r>
            <a:r>
              <a:rPr lang="en-US" dirty="0" err="1">
                <a:solidFill>
                  <a:srgbClr val="169A16"/>
                </a:solidFill>
              </a:rPr>
              <a:t>summ</a:t>
            </a:r>
            <a:r>
              <a:rPr lang="en-US" dirty="0">
                <a:solidFill>
                  <a:srgbClr val="169A16"/>
                </a:solidFill>
              </a:rPr>
              <a:t> age by doctor</a:t>
            </a:r>
          </a:p>
          <a:p>
            <a:r>
              <a:rPr lang="en-US" dirty="0"/>
              <a:t>sort </a:t>
            </a:r>
            <a:r>
              <a:rPr lang="en-US" dirty="0" err="1"/>
              <a:t>dobcid</a:t>
            </a:r>
            <a:endParaRPr lang="en-US" dirty="0"/>
          </a:p>
          <a:p>
            <a:r>
              <a:rPr lang="en-US" dirty="0"/>
              <a:t>by </a:t>
            </a:r>
            <a:r>
              <a:rPr lang="en-US" dirty="0" err="1"/>
              <a:t>docid</a:t>
            </a:r>
            <a:r>
              <a:rPr lang="en-US" dirty="0"/>
              <a:t>: </a:t>
            </a:r>
            <a:r>
              <a:rPr lang="en-US" dirty="0" err="1"/>
              <a:t>summ</a:t>
            </a:r>
            <a:r>
              <a:rPr lang="en-US" dirty="0"/>
              <a:t> age  </a:t>
            </a:r>
          </a:p>
          <a:p>
            <a:endParaRPr lang="en-US" dirty="0"/>
          </a:p>
          <a:p>
            <a:r>
              <a:rPr lang="en-US" dirty="0">
                <a:solidFill>
                  <a:srgbClr val="169A16"/>
                </a:solidFill>
              </a:rPr>
              <a:t>* same as above in one step</a:t>
            </a:r>
          </a:p>
          <a:p>
            <a:r>
              <a:rPr lang="en-US" dirty="0" err="1"/>
              <a:t>bysort</a:t>
            </a:r>
            <a:r>
              <a:rPr lang="en-US" dirty="0"/>
              <a:t> </a:t>
            </a:r>
            <a:r>
              <a:rPr lang="en-US" dirty="0" err="1"/>
              <a:t>docid</a:t>
            </a:r>
            <a:r>
              <a:rPr lang="en-US" dirty="0"/>
              <a:t>: </a:t>
            </a:r>
            <a:r>
              <a:rPr lang="en-US" dirty="0" err="1"/>
              <a:t>summ</a:t>
            </a:r>
            <a:r>
              <a:rPr lang="en-US" dirty="0"/>
              <a:t> age</a:t>
            </a:r>
          </a:p>
        </p:txBody>
      </p:sp>
    </p:spTree>
    <p:extLst>
      <p:ext uri="{BB962C8B-B14F-4D97-AF65-F5344CB8AC3E}">
        <p14:creationId xmlns:p14="http://schemas.microsoft.com/office/powerpoint/2010/main" val="1601445167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Generating statistics by group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some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egen</a:t>
            </a:r>
            <a:r>
              <a:rPr lang="en-US" dirty="0"/>
              <a:t> functions can be used with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by</a:t>
            </a:r>
            <a:r>
              <a:rPr lang="en-US" dirty="0"/>
              <a:t> to generate statistics by group.</a:t>
            </a:r>
          </a:p>
          <a:p>
            <a:pPr lvl="1"/>
            <a:r>
              <a:rPr lang="en-US" dirty="0"/>
              <a:t>including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mean</a:t>
            </a:r>
            <a:r>
              <a:rPr lang="en-US" dirty="0"/>
              <a:t>,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max</a:t>
            </a:r>
            <a:r>
              <a:rPr lang="en-US" dirty="0"/>
              <a:t>, and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sd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0C63F6-F0DC-455B-8870-78154760C2F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169A1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*mean, max, and standard dev of age</a:t>
            </a:r>
          </a:p>
          <a:p>
            <a:pPr marL="0" indent="0">
              <a:buNone/>
            </a:pPr>
            <a:r>
              <a:rPr lang="en-US" dirty="0">
                <a:solidFill>
                  <a:srgbClr val="169A16"/>
                </a:solidFill>
              </a:rPr>
              <a:t>*  of patients within each doctor</a:t>
            </a:r>
            <a:endParaRPr lang="en-US" dirty="0">
              <a:solidFill>
                <a:srgbClr val="169A1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by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docid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egen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mean_age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mean(age)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by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docid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egen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max_age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max(age)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by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docid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egen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sd_age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(age)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770324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C2F71DF-AA9C-43D1-BBBC-6DFABE0A17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Longitudinal data (multiple rows per subject)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9DDB0D2-49FA-4835-B9F0-AEF004D4A61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Longitudinal designs repeatedly measure subjects over time</a:t>
            </a:r>
          </a:p>
          <a:p>
            <a:r>
              <a:rPr lang="en-US" dirty="0"/>
              <a:t>If repeated measurements are recorded on separate rows of data (i.e. long data), then there will usually be both an ID variable and a time variable</a:t>
            </a:r>
          </a:p>
          <a:p>
            <a:r>
              <a:rPr lang="en-US" dirty="0"/>
              <a:t>Data should generally be sorted by the ID variable and then the time variable before by-ID processing</a:t>
            </a:r>
          </a:p>
          <a:p>
            <a:pPr lvl="1"/>
            <a:r>
              <a:rPr lang="en-US" dirty="0"/>
              <a:t>However, we usually only want to process by the ID variable</a:t>
            </a:r>
          </a:p>
          <a:p>
            <a:pPr lvl="1"/>
            <a:r>
              <a:rPr lang="en-US" dirty="0"/>
              <a:t>So,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sort</a:t>
            </a:r>
            <a:r>
              <a:rPr lang="en-US" dirty="0"/>
              <a:t> first, then use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by: </a:t>
            </a:r>
            <a:r>
              <a:rPr lang="en-US" dirty="0"/>
              <a:t>(2 steps)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F888EF1-CCD0-457F-BC26-82979C925BA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 dirty="0"/>
          </a:p>
        </p:txBody>
      </p:sp>
      <p:graphicFrame>
        <p:nvGraphicFramePr>
          <p:cNvPr id="8" name="Table 8">
            <a:extLst>
              <a:ext uri="{FF2B5EF4-FFF2-40B4-BE49-F238E27FC236}">
                <a16:creationId xmlns:a16="http://schemas.microsoft.com/office/drawing/2014/main" id="{F7FE4FC7-300A-4A7B-B02C-F21B40C3E84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29990148"/>
              </p:ext>
            </p:extLst>
          </p:nvPr>
        </p:nvGraphicFramePr>
        <p:xfrm>
          <a:off x="6217921" y="1845734"/>
          <a:ext cx="2145903" cy="301752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606573">
                  <a:extLst>
                    <a:ext uri="{9D8B030D-6E8A-4147-A177-3AD203B41FA5}">
                      <a16:colId xmlns:a16="http://schemas.microsoft.com/office/drawing/2014/main" val="2808929865"/>
                    </a:ext>
                  </a:extLst>
                </a:gridCol>
                <a:gridCol w="614354">
                  <a:extLst>
                    <a:ext uri="{9D8B030D-6E8A-4147-A177-3AD203B41FA5}">
                      <a16:colId xmlns:a16="http://schemas.microsoft.com/office/drawing/2014/main" val="1630882493"/>
                    </a:ext>
                  </a:extLst>
                </a:gridCol>
                <a:gridCol w="924976">
                  <a:extLst>
                    <a:ext uri="{9D8B030D-6E8A-4147-A177-3AD203B41FA5}">
                      <a16:colId xmlns:a16="http://schemas.microsoft.com/office/drawing/2014/main" val="313183231"/>
                    </a:ext>
                  </a:extLst>
                </a:gridCol>
              </a:tblGrid>
              <a:tr h="255693">
                <a:tc>
                  <a:txBody>
                    <a:bodyPr/>
                    <a:lstStyle/>
                    <a:p>
                      <a:r>
                        <a:rPr lang="en-US" sz="120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ID</a:t>
                      </a:r>
                      <a:endParaRPr lang="en-US" sz="12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time</a:t>
                      </a:r>
                      <a:endParaRPr lang="en-US" sz="12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depress</a:t>
                      </a:r>
                      <a:endParaRPr lang="en-US" sz="12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8777872"/>
                  </a:ext>
                </a:extLst>
              </a:tr>
              <a:tr h="255693">
                <a:tc>
                  <a:txBody>
                    <a:bodyPr/>
                    <a:lstStyle/>
                    <a:p>
                      <a:r>
                        <a:rPr lang="en-US" sz="120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sz="12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</a:t>
                      </a:r>
                      <a:endParaRPr lang="en-US" sz="12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25</a:t>
                      </a:r>
                      <a:endParaRPr lang="en-US" sz="12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5859145"/>
                  </a:ext>
                </a:extLst>
              </a:tr>
              <a:tr h="255693">
                <a:tc>
                  <a:txBody>
                    <a:bodyPr/>
                    <a:lstStyle/>
                    <a:p>
                      <a:r>
                        <a:rPr lang="en-US" sz="120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sz="12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sz="12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23</a:t>
                      </a:r>
                      <a:endParaRPr lang="en-US" sz="12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7003230"/>
                  </a:ext>
                </a:extLst>
              </a:tr>
              <a:tr h="255693">
                <a:tc>
                  <a:txBody>
                    <a:bodyPr/>
                    <a:lstStyle/>
                    <a:p>
                      <a:r>
                        <a:rPr lang="en-US" sz="120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sz="12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  <a:endParaRPr lang="en-US" sz="12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23</a:t>
                      </a:r>
                      <a:endParaRPr lang="en-US" sz="12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5683422"/>
                  </a:ext>
                </a:extLst>
              </a:tr>
              <a:tr h="255693">
                <a:tc>
                  <a:txBody>
                    <a:bodyPr/>
                    <a:lstStyle/>
                    <a:p>
                      <a:r>
                        <a:rPr lang="en-US" sz="120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sz="12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</a:t>
                      </a:r>
                      <a:endParaRPr lang="en-US" sz="12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18</a:t>
                      </a:r>
                      <a:endParaRPr lang="en-US" sz="12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7712685"/>
                  </a:ext>
                </a:extLst>
              </a:tr>
              <a:tr h="255693">
                <a:tc>
                  <a:txBody>
                    <a:bodyPr/>
                    <a:lstStyle/>
                    <a:p>
                      <a:r>
                        <a:rPr lang="en-US" sz="120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sz="12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</a:t>
                      </a:r>
                      <a:endParaRPr lang="en-US" sz="12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15</a:t>
                      </a:r>
                      <a:endParaRPr lang="en-US" sz="12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3192532"/>
                  </a:ext>
                </a:extLst>
              </a:tr>
              <a:tr h="255693">
                <a:tc>
                  <a:txBody>
                    <a:bodyPr/>
                    <a:lstStyle/>
                    <a:p>
                      <a:r>
                        <a:rPr lang="en-US" sz="120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  <a:endParaRPr lang="en-US" sz="12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solidFill>
                      <a:schemeClr val="bg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</a:t>
                      </a:r>
                      <a:endParaRPr lang="en-US" sz="12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solidFill>
                      <a:schemeClr val="bg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31</a:t>
                      </a:r>
                      <a:endParaRPr lang="en-US" sz="12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solidFill>
                      <a:schemeClr val="bg1">
                        <a:lumMod val="95000"/>
                        <a:lumOff val="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429397"/>
                  </a:ext>
                </a:extLst>
              </a:tr>
              <a:tr h="255693">
                <a:tc>
                  <a:txBody>
                    <a:bodyPr/>
                    <a:lstStyle/>
                    <a:p>
                      <a:r>
                        <a:rPr lang="en-US" sz="120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  <a:endParaRPr lang="en-US" sz="12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solidFill>
                      <a:schemeClr val="bg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sz="12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solidFill>
                      <a:schemeClr val="bg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31</a:t>
                      </a:r>
                      <a:endParaRPr lang="en-US" sz="12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solidFill>
                      <a:schemeClr val="bg1">
                        <a:lumMod val="95000"/>
                        <a:lumOff val="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428186"/>
                  </a:ext>
                </a:extLst>
              </a:tr>
              <a:tr h="255693">
                <a:tc>
                  <a:txBody>
                    <a:bodyPr/>
                    <a:lstStyle/>
                    <a:p>
                      <a:r>
                        <a:rPr lang="en-US" sz="120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  <a:endParaRPr lang="en-US" sz="12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solidFill>
                      <a:schemeClr val="bg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  <a:endParaRPr lang="en-US" sz="12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solidFill>
                      <a:schemeClr val="bg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32</a:t>
                      </a:r>
                    </a:p>
                  </a:txBody>
                  <a:tcPr>
                    <a:solidFill>
                      <a:schemeClr val="bg1">
                        <a:lumMod val="95000"/>
                        <a:lumOff val="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018279"/>
                  </a:ext>
                </a:extLst>
              </a:tr>
              <a:tr h="255693">
                <a:tc>
                  <a:txBody>
                    <a:bodyPr/>
                    <a:lstStyle/>
                    <a:p>
                      <a:r>
                        <a:rPr lang="en-US" sz="120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  <a:endParaRPr lang="en-US" sz="12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solidFill>
                      <a:schemeClr val="bg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</a:t>
                      </a:r>
                      <a:endParaRPr lang="en-US" sz="12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solidFill>
                      <a:schemeClr val="bg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32</a:t>
                      </a:r>
                    </a:p>
                  </a:txBody>
                  <a:tcPr>
                    <a:solidFill>
                      <a:schemeClr val="bg1">
                        <a:lumMod val="95000"/>
                        <a:lumOff val="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3371824"/>
                  </a:ext>
                </a:extLst>
              </a:tr>
              <a:tr h="255693">
                <a:tc>
                  <a:txBody>
                    <a:bodyPr/>
                    <a:lstStyle/>
                    <a:p>
                      <a:r>
                        <a:rPr lang="en-US" sz="120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</a:t>
                      </a:r>
                      <a:endParaRPr lang="en-US" sz="12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solidFill>
                      <a:schemeClr val="bg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</a:t>
                      </a:r>
                      <a:endParaRPr lang="en-US" sz="12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solidFill>
                      <a:schemeClr val="bg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33</a:t>
                      </a:r>
                    </a:p>
                  </a:txBody>
                  <a:tcPr>
                    <a:solidFill>
                      <a:schemeClr val="bg1">
                        <a:lumMod val="95000"/>
                        <a:lumOff val="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6259579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27F4C774-06F8-4C7E-8BFE-517C9F2D7A0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13595249"/>
              </p:ext>
            </p:extLst>
          </p:nvPr>
        </p:nvGraphicFramePr>
        <p:xfrm>
          <a:off x="8912186" y="1845734"/>
          <a:ext cx="2270073" cy="301752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020379">
                  <a:extLst>
                    <a:ext uri="{9D8B030D-6E8A-4147-A177-3AD203B41FA5}">
                      <a16:colId xmlns:a16="http://schemas.microsoft.com/office/drawing/2014/main" val="2808929865"/>
                    </a:ext>
                  </a:extLst>
                </a:gridCol>
                <a:gridCol w="1249694">
                  <a:extLst>
                    <a:ext uri="{9D8B030D-6E8A-4147-A177-3AD203B41FA5}">
                      <a16:colId xmlns:a16="http://schemas.microsoft.com/office/drawing/2014/main" val="313183231"/>
                    </a:ext>
                  </a:extLst>
                </a:gridCol>
              </a:tblGrid>
              <a:tr h="255693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depress0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lag_depress</a:t>
                      </a:r>
                      <a:endParaRPr lang="en-US" sz="12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8777872"/>
                  </a:ext>
                </a:extLst>
              </a:tr>
              <a:tr h="255693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25</a:t>
                      </a:r>
                    </a:p>
                  </a:txBody>
                  <a:tcPr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.</a:t>
                      </a:r>
                    </a:p>
                  </a:txBody>
                  <a:tcPr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5859145"/>
                  </a:ext>
                </a:extLst>
              </a:tr>
              <a:tr h="255693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25</a:t>
                      </a:r>
                    </a:p>
                  </a:txBody>
                  <a:tcPr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25</a:t>
                      </a:r>
                    </a:p>
                  </a:txBody>
                  <a:tcPr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7003230"/>
                  </a:ext>
                </a:extLst>
              </a:tr>
              <a:tr h="255693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25</a:t>
                      </a:r>
                    </a:p>
                  </a:txBody>
                  <a:tcPr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23</a:t>
                      </a:r>
                    </a:p>
                  </a:txBody>
                  <a:tcPr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5683422"/>
                  </a:ext>
                </a:extLst>
              </a:tr>
              <a:tr h="255693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25</a:t>
                      </a:r>
                    </a:p>
                  </a:txBody>
                  <a:tcPr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23</a:t>
                      </a:r>
                    </a:p>
                  </a:txBody>
                  <a:tcPr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7712685"/>
                  </a:ext>
                </a:extLst>
              </a:tr>
              <a:tr h="255693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25</a:t>
                      </a:r>
                    </a:p>
                  </a:txBody>
                  <a:tcPr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18</a:t>
                      </a:r>
                    </a:p>
                  </a:txBody>
                  <a:tcPr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3192532"/>
                  </a:ext>
                </a:extLst>
              </a:tr>
              <a:tr h="255693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31</a:t>
                      </a:r>
                    </a:p>
                  </a:txBody>
                  <a:tcPr>
                    <a:solidFill>
                      <a:schemeClr val="bg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.</a:t>
                      </a:r>
                    </a:p>
                  </a:txBody>
                  <a:tcPr>
                    <a:solidFill>
                      <a:schemeClr val="bg1">
                        <a:lumMod val="95000"/>
                        <a:lumOff val="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429397"/>
                  </a:ext>
                </a:extLst>
              </a:tr>
              <a:tr h="255693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31</a:t>
                      </a:r>
                    </a:p>
                  </a:txBody>
                  <a:tcPr>
                    <a:solidFill>
                      <a:schemeClr val="bg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31</a:t>
                      </a:r>
                      <a:endParaRPr lang="en-US" sz="12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solidFill>
                      <a:schemeClr val="bg1">
                        <a:lumMod val="95000"/>
                        <a:lumOff val="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428186"/>
                  </a:ext>
                </a:extLst>
              </a:tr>
              <a:tr h="255693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31</a:t>
                      </a:r>
                    </a:p>
                  </a:txBody>
                  <a:tcPr>
                    <a:solidFill>
                      <a:schemeClr val="bg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31</a:t>
                      </a:r>
                    </a:p>
                  </a:txBody>
                  <a:tcPr>
                    <a:solidFill>
                      <a:schemeClr val="bg1">
                        <a:lumMod val="95000"/>
                        <a:lumOff val="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018279"/>
                  </a:ext>
                </a:extLst>
              </a:tr>
              <a:tr h="255693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31</a:t>
                      </a:r>
                    </a:p>
                  </a:txBody>
                  <a:tcPr>
                    <a:solidFill>
                      <a:schemeClr val="bg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32</a:t>
                      </a:r>
                    </a:p>
                  </a:txBody>
                  <a:tcPr>
                    <a:solidFill>
                      <a:schemeClr val="bg1">
                        <a:lumMod val="95000"/>
                        <a:lumOff val="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3371824"/>
                  </a:ext>
                </a:extLst>
              </a:tr>
              <a:tr h="255693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31</a:t>
                      </a:r>
                    </a:p>
                  </a:txBody>
                  <a:tcPr>
                    <a:solidFill>
                      <a:schemeClr val="bg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32</a:t>
                      </a:r>
                    </a:p>
                  </a:txBody>
                  <a:tcPr>
                    <a:solidFill>
                      <a:schemeClr val="bg1">
                        <a:lumMod val="95000"/>
                        <a:lumOff val="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6259579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D46A48B0-7E61-455D-B584-17A76C9C4AC8}"/>
              </a:ext>
            </a:extLst>
          </p:cNvPr>
          <p:cNvSpPr txBox="1"/>
          <p:nvPr/>
        </p:nvSpPr>
        <p:spPr>
          <a:xfrm>
            <a:off x="7456689" y="5030398"/>
            <a:ext cx="23473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depress</a:t>
            </a:r>
            <a:r>
              <a:rPr lang="en-US" dirty="0"/>
              <a:t> at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time=0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F90EFE1-9A78-49AA-939E-05B18D4669EE}"/>
              </a:ext>
            </a:extLst>
          </p:cNvPr>
          <p:cNvSpPr txBox="1"/>
          <p:nvPr/>
        </p:nvSpPr>
        <p:spPr>
          <a:xfrm>
            <a:off x="9947041" y="5035790"/>
            <a:ext cx="18844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lagged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depress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0D85992A-9316-4C35-8760-58396BABDF74}"/>
              </a:ext>
            </a:extLst>
          </p:cNvPr>
          <p:cNvCxnSpPr/>
          <p:nvPr/>
        </p:nvCxnSpPr>
        <p:spPr>
          <a:xfrm flipV="1">
            <a:off x="8732939" y="4888421"/>
            <a:ext cx="335560" cy="237252"/>
          </a:xfrm>
          <a:prstGeom prst="straightConnector1">
            <a:avLst/>
          </a:prstGeom>
          <a:ln>
            <a:solidFill>
              <a:srgbClr val="DFE3E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FDF8B011-4D6E-4C69-B81C-A49963805E66}"/>
              </a:ext>
            </a:extLst>
          </p:cNvPr>
          <p:cNvCxnSpPr/>
          <p:nvPr/>
        </p:nvCxnSpPr>
        <p:spPr>
          <a:xfrm flipH="1" flipV="1">
            <a:off x="10192624" y="4888421"/>
            <a:ext cx="260059" cy="237252"/>
          </a:xfrm>
          <a:prstGeom prst="straightConnector1">
            <a:avLst/>
          </a:prstGeom>
          <a:ln>
            <a:solidFill>
              <a:srgbClr val="DFE3E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67213233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CF45164-ECAB-4AD5-A96F-0289EBF33A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Specifying the value of a variable from a particular observation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AF1E2BB-98AF-4C33-BB5E-1DC2408E2E3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If we want to use the value of a variable from a particular observation number, e.g. observation 1, we can use this syntax:</a:t>
            </a:r>
          </a:p>
          <a:p>
            <a:r>
              <a:rPr lang="en-US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varname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i="1" dirty="0">
                <a:latin typeface="Courier New" panose="02070309020205020404" pitchFamily="49" charset="0"/>
                <a:cs typeface="Courier New" panose="02070309020205020404" pitchFamily="49" charset="0"/>
              </a:rPr>
              <a:t>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</a:p>
          <a:p>
            <a:r>
              <a:rPr lang="en-US" dirty="0"/>
              <a:t>So,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math[3]</a:t>
            </a:r>
            <a:r>
              <a:rPr lang="en-US" dirty="0"/>
              <a:t> is the value of the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math</a:t>
            </a:r>
            <a:r>
              <a:rPr lang="en-US" dirty="0"/>
              <a:t> variable from the third observation</a:t>
            </a:r>
          </a:p>
          <a:p>
            <a:r>
              <a:rPr lang="en-US" dirty="0"/>
              <a:t>If used with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by:</a:t>
            </a:r>
            <a:r>
              <a:rPr lang="en-US" dirty="0"/>
              <a:t>, then it is the </a:t>
            </a:r>
            <a:r>
              <a:rPr lang="en-US" i="1" dirty="0">
                <a:latin typeface="Courier New" panose="02070309020205020404" pitchFamily="49" charset="0"/>
                <a:cs typeface="Courier New" panose="02070309020205020404" pitchFamily="49" charset="0"/>
              </a:rPr>
              <a:t>n</a:t>
            </a:r>
            <a:r>
              <a:rPr lang="en-US" dirty="0"/>
              <a:t>th value from within each group 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by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classid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: math[3]</a:t>
            </a:r>
            <a:r>
              <a:rPr lang="en-US" dirty="0"/>
              <a:t>, third math value within each class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5A2EB5D-212B-4A43-8662-57EAD133DB4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>
                <a:solidFill>
                  <a:srgbClr val="169A16"/>
                </a:solidFill>
              </a:rPr>
              <a:t>*sort by id and time first</a:t>
            </a:r>
          </a:p>
          <a:p>
            <a:r>
              <a:rPr lang="en-US" dirty="0"/>
              <a:t>sort id time</a:t>
            </a:r>
          </a:p>
          <a:p>
            <a:endParaRPr lang="en-US" dirty="0"/>
          </a:p>
          <a:p>
            <a:r>
              <a:rPr lang="en-US" dirty="0">
                <a:solidFill>
                  <a:srgbClr val="169A16"/>
                </a:solidFill>
              </a:rPr>
              <a:t>*baseline (first) value of depression per id</a:t>
            </a:r>
          </a:p>
          <a:p>
            <a:r>
              <a:rPr lang="en-US" dirty="0"/>
              <a:t>by id: depress0 = depress[1]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7104753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System variables </a:t>
            </a:r>
            <a:r>
              <a:rPr lang="pt-BR" cap="none" dirty="0">
                <a:latin typeface="Courier New" panose="02070309020205020404" pitchFamily="49" charset="0"/>
                <a:cs typeface="Courier New" panose="02070309020205020404" pitchFamily="49" charset="0"/>
              </a:rPr>
              <a:t>_n</a:t>
            </a:r>
            <a:r>
              <a:rPr lang="pt-BR" dirty="0"/>
              <a:t> and </a:t>
            </a:r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_N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System variables are created and updated by Stata </a:t>
            </a:r>
          </a:p>
          <a:p>
            <a:r>
              <a:rPr lang="en-US" dirty="0"/>
              <a:t>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_n </a:t>
            </a:r>
            <a:r>
              <a:rPr lang="en-US" dirty="0"/>
              <a:t>is the number of the current observation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_N </a:t>
            </a:r>
            <a:r>
              <a:rPr lang="en-US" dirty="0"/>
              <a:t>is the total number of observations</a:t>
            </a:r>
          </a:p>
          <a:p>
            <a:r>
              <a:rPr lang="en-US" dirty="0"/>
              <a:t>With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by</a:t>
            </a:r>
            <a:r>
              <a:rPr lang="en-US" dirty="0"/>
              <a:t>: 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_n</a:t>
            </a:r>
            <a:r>
              <a:rPr lang="en-US" dirty="0"/>
              <a:t> is the current observation in a group</a:t>
            </a:r>
          </a:p>
          <a:p>
            <a:pPr lvl="1"/>
            <a:r>
              <a:rPr lang="en-US" dirty="0"/>
              <a:t>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_N </a:t>
            </a:r>
            <a:r>
              <a:rPr lang="en-US" dirty="0"/>
              <a:t>is the total number of observations in the current group. </a:t>
            </a:r>
          </a:p>
          <a:p>
            <a:r>
              <a:rPr lang="en-US" dirty="0"/>
              <a:t>These can then be used to create variables for longitudinal data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36D473-26EA-4F53-A8B5-5000C859F59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169A16"/>
                </a:solidFill>
              </a:rPr>
              <a:t>*last depression score per id</a:t>
            </a:r>
          </a:p>
          <a:p>
            <a:r>
              <a:rPr lang="en-US" dirty="0">
                <a:solidFill>
                  <a:srgbClr val="169A16"/>
                </a:solidFill>
              </a:rPr>
              <a:t>* allows for different number of timepoints</a:t>
            </a:r>
          </a:p>
          <a:p>
            <a:r>
              <a:rPr lang="en-US" dirty="0"/>
              <a:t>by id: gen </a:t>
            </a:r>
            <a:r>
              <a:rPr lang="en-US" dirty="0" err="1"/>
              <a:t>depress_last</a:t>
            </a:r>
            <a:r>
              <a:rPr lang="en-US" dirty="0"/>
              <a:t> = depress[_N]</a:t>
            </a:r>
          </a:p>
          <a:p>
            <a:endParaRPr lang="en-US" dirty="0"/>
          </a:p>
          <a:p>
            <a:r>
              <a:rPr lang="en-US" dirty="0">
                <a:solidFill>
                  <a:srgbClr val="169A16"/>
                </a:solidFill>
              </a:rPr>
              <a:t>*lagged depression</a:t>
            </a:r>
          </a:p>
          <a:p>
            <a:r>
              <a:rPr lang="en-US" dirty="0">
                <a:solidFill>
                  <a:srgbClr val="169A16"/>
                </a:solidFill>
              </a:rPr>
              <a:t>* first </a:t>
            </a:r>
            <a:r>
              <a:rPr lang="en-US" dirty="0" err="1">
                <a:solidFill>
                  <a:srgbClr val="169A16"/>
                </a:solidFill>
              </a:rPr>
              <a:t>obs</a:t>
            </a:r>
            <a:r>
              <a:rPr lang="en-US" dirty="0">
                <a:solidFill>
                  <a:srgbClr val="169A16"/>
                </a:solidFill>
              </a:rPr>
              <a:t> will be . per id</a:t>
            </a:r>
          </a:p>
          <a:p>
            <a:r>
              <a:rPr lang="en-US" dirty="0"/>
              <a:t>by id: gen </a:t>
            </a:r>
            <a:r>
              <a:rPr lang="en-US" dirty="0" err="1"/>
              <a:t>depress_lag</a:t>
            </a:r>
            <a:r>
              <a:rPr lang="en-US" dirty="0"/>
              <a:t> = depress[_n-1]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5058691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Summing within group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When used with generate, sum() creates a running sum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gen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sumx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sum(x) </a:t>
            </a:r>
            <a:r>
              <a:rPr lang="en-US" dirty="0">
                <a:solidFill>
                  <a:srgbClr val="169A1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running sum of x</a:t>
            </a:r>
          </a:p>
          <a:p>
            <a:r>
              <a:rPr lang="en-US" dirty="0"/>
              <a:t>With a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by</a:t>
            </a:r>
            <a:r>
              <a:rPr lang="en-US" dirty="0"/>
              <a:t>-group specification, we get running sums by group. </a:t>
            </a:r>
          </a:p>
          <a:p>
            <a:pPr lvl="1"/>
            <a:r>
              <a:rPr lang="en-US" dirty="0"/>
              <a:t>The running sum may itself be a useful variable</a:t>
            </a:r>
          </a:p>
          <a:p>
            <a:pPr lvl="1"/>
            <a:r>
              <a:rPr lang="en-US" dirty="0"/>
              <a:t>We can also pull the value from the last observation (using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_N</a:t>
            </a:r>
            <a:r>
              <a:rPr lang="en-US" dirty="0"/>
              <a:t>) within each group to create a total sum variable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886A42-E84B-4F28-B9A0-9886D58051B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>
                <a:solidFill>
                  <a:srgbClr val="169A16"/>
                </a:solidFill>
              </a:rPr>
              <a:t>*running sum of adverse life events (ale) </a:t>
            </a:r>
          </a:p>
          <a:p>
            <a:r>
              <a:rPr lang="en-US" dirty="0">
                <a:solidFill>
                  <a:srgbClr val="169A16"/>
                </a:solidFill>
              </a:rPr>
              <a:t>*  per id</a:t>
            </a:r>
          </a:p>
          <a:p>
            <a:r>
              <a:rPr lang="en-US" dirty="0"/>
              <a:t>by id: gen </a:t>
            </a:r>
            <a:r>
              <a:rPr lang="en-US" dirty="0" err="1"/>
              <a:t>sum_ale</a:t>
            </a:r>
            <a:r>
              <a:rPr lang="en-US" dirty="0"/>
              <a:t> = sum(ale)</a:t>
            </a:r>
          </a:p>
          <a:p>
            <a:endParaRPr lang="en-US" dirty="0"/>
          </a:p>
          <a:p>
            <a:r>
              <a:rPr lang="en-US" dirty="0">
                <a:solidFill>
                  <a:srgbClr val="169A16"/>
                </a:solidFill>
              </a:rPr>
              <a:t>*total number of adverse life events per id</a:t>
            </a:r>
          </a:p>
          <a:p>
            <a:r>
              <a:rPr lang="en-US" dirty="0"/>
              <a:t>by id: gen </a:t>
            </a:r>
            <a:r>
              <a:rPr lang="en-US" dirty="0" err="1"/>
              <a:t>total_ale</a:t>
            </a:r>
            <a:r>
              <a:rPr lang="en-US" dirty="0"/>
              <a:t> = </a:t>
            </a:r>
            <a:r>
              <a:rPr lang="en-US" dirty="0" err="1"/>
              <a:t>sum_ale</a:t>
            </a:r>
            <a:r>
              <a:rPr lang="en-US" dirty="0"/>
              <a:t>[_N]</a:t>
            </a:r>
          </a:p>
        </p:txBody>
      </p:sp>
    </p:spTree>
    <p:extLst>
      <p:ext uri="{BB962C8B-B14F-4D97-AF65-F5344CB8AC3E}">
        <p14:creationId xmlns:p14="http://schemas.microsoft.com/office/powerpoint/2010/main" val="3529498279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069848" y="747332"/>
            <a:ext cx="5632704" cy="491947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6600" dirty="0"/>
              <a:t>References and Further Learning</a:t>
            </a:r>
            <a:endParaRPr lang="en-US" sz="6600" dirty="0">
              <a:solidFill>
                <a:schemeClr val="tx2"/>
              </a:solidFill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0589F42-419C-40E1-B7B9-1B763E90E0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571232" y="749808"/>
            <a:ext cx="3995928" cy="4916996"/>
          </a:xfrm>
        </p:spPr>
        <p:txBody>
          <a:bodyPr/>
          <a:lstStyle/>
          <a:p>
            <a:endParaRPr lang="en-US" dirty="0"/>
          </a:p>
          <a:p>
            <a:endParaRPr lang="en-US" cap="none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cap="none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0991659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Mitchell, Michael N. 2010. </a:t>
            </a:r>
            <a:r>
              <a:rPr lang="en-US" i="1" dirty="0"/>
              <a:t>Data Management Using Stata: A Practical Handbook</a:t>
            </a:r>
            <a:r>
              <a:rPr lang="en-US" dirty="0"/>
              <a:t>. Stata Press.</a:t>
            </a:r>
          </a:p>
          <a:p>
            <a:r>
              <a:rPr lang="en-US" u="sng" dirty="0">
                <a:hlinkClick r:id="rId2"/>
              </a:rPr>
              <a:t>Stata YouTube channel</a:t>
            </a:r>
            <a:r>
              <a:rPr lang="en-US" dirty="0"/>
              <a:t> – videos for both data management and data analysis made by Stata, and a </a:t>
            </a:r>
            <a:r>
              <a:rPr lang="en-US" u="sng" dirty="0">
                <a:hlinkClick r:id="rId3"/>
              </a:rPr>
              <a:t>list</a:t>
            </a:r>
            <a:r>
              <a:rPr lang="en-US" dirty="0"/>
              <a:t> of links to their videos on their home site</a:t>
            </a:r>
          </a:p>
          <a:p>
            <a:r>
              <a:rPr lang="en-US" u="sng" dirty="0">
                <a:hlinkClick r:id="rId4"/>
              </a:rPr>
              <a:t>Data management FAQ </a:t>
            </a:r>
            <a:r>
              <a:rPr lang="en-US" dirty="0"/>
              <a:t>on Stata home site</a:t>
            </a:r>
          </a:p>
          <a:p>
            <a:r>
              <a:rPr lang="en-US" u="sng" dirty="0">
                <a:hlinkClick r:id="rId5"/>
              </a:rPr>
              <a:t>UCLA OARC Stata pages</a:t>
            </a:r>
            <a:r>
              <a:rPr lang="en-US" dirty="0"/>
              <a:t> – our own pages on data management and data analysis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8756166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 YOU!</a:t>
            </a:r>
          </a:p>
        </p:txBody>
      </p:sp>
      <p:sp>
        <p:nvSpPr>
          <p:cNvPr id="7" name="Subtitle 6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2760207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orbel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E3DA18C2-75F1-4980-A5F0-165F6F71DE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3362</TotalTime>
  <Words>6273</Words>
  <Application>Microsoft Office PowerPoint</Application>
  <PresentationFormat>Widescreen</PresentationFormat>
  <Paragraphs>1262</Paragraphs>
  <Slides>79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79</vt:i4>
      </vt:variant>
    </vt:vector>
  </HeadingPairs>
  <TitlesOfParts>
    <vt:vector size="84" baseType="lpstr">
      <vt:lpstr>Arial</vt:lpstr>
      <vt:lpstr>Calibri</vt:lpstr>
      <vt:lpstr>Corbel</vt:lpstr>
      <vt:lpstr>Courier New</vt:lpstr>
      <vt:lpstr>Retrospect</vt:lpstr>
      <vt:lpstr>STATA data management</vt:lpstr>
      <vt:lpstr>Purpose of the workshop</vt:lpstr>
      <vt:lpstr>Topics</vt:lpstr>
      <vt:lpstr>Preliminaries</vt:lpstr>
      <vt:lpstr>Use do-files</vt:lpstr>
      <vt:lpstr>Reading syntax specifications in this workshop</vt:lpstr>
      <vt:lpstr>Workshop dataset</vt:lpstr>
      <vt:lpstr>save and use</vt:lpstr>
      <vt:lpstr>Inspecting variables</vt:lpstr>
      <vt:lpstr>browse</vt:lpstr>
      <vt:lpstr>summarize</vt:lpstr>
      <vt:lpstr>tabulate</vt:lpstr>
      <vt:lpstr>codebook</vt:lpstr>
      <vt:lpstr>Creating variables</vt:lpstr>
      <vt:lpstr>generate variables</vt:lpstr>
      <vt:lpstr>Functions to use with generate</vt:lpstr>
      <vt:lpstr>egen, extended generation command</vt:lpstr>
      <vt:lpstr>Selecting observations and variables</vt:lpstr>
      <vt:lpstr>if: selecting by condition</vt:lpstr>
      <vt:lpstr>Logical and relational operators</vt:lpstr>
      <vt:lpstr>replace and if</vt:lpstr>
      <vt:lpstr>Change variable coding with recode</vt:lpstr>
      <vt:lpstr>keep and drop: filtering observations</vt:lpstr>
      <vt:lpstr>drop (or keep) variables</vt:lpstr>
      <vt:lpstr>Missing Data</vt:lpstr>
      <vt:lpstr>Missing data</vt:lpstr>
      <vt:lpstr>Missing values in Stata</vt:lpstr>
      <vt:lpstr>misstable summarize: finding existing missing values</vt:lpstr>
      <vt:lpstr>Detecting missing data codes</vt:lpstr>
      <vt:lpstr>Use mvdecode to convert user-defined missing data codes to missing values</vt:lpstr>
      <vt:lpstr>The missing() function</vt:lpstr>
      <vt:lpstr>Be careful with relational operators when working with missing values</vt:lpstr>
      <vt:lpstr>Date variables</vt:lpstr>
      <vt:lpstr>Dates as strings and numbers</vt:lpstr>
      <vt:lpstr>date(): converting string dates to numeric</vt:lpstr>
      <vt:lpstr>The date() function accepts dates in many formats</vt:lpstr>
      <vt:lpstr>Formatting numeric dates</vt:lpstr>
      <vt:lpstr>Date arithmetic</vt:lpstr>
      <vt:lpstr>Functions to extract components of dates</vt:lpstr>
      <vt:lpstr>String variables</vt:lpstr>
      <vt:lpstr>Strings in Stata</vt:lpstr>
      <vt:lpstr>String functions</vt:lpstr>
      <vt:lpstr>strtrim(): trimming white space</vt:lpstr>
      <vt:lpstr>substr(): extracting a substring</vt:lpstr>
      <vt:lpstr>+: concatenating strings</vt:lpstr>
      <vt:lpstr>String matching</vt:lpstr>
      <vt:lpstr>Encoding strings into numeric variables</vt:lpstr>
      <vt:lpstr>Convert number variables stored as strings to numeric with destring</vt:lpstr>
      <vt:lpstr>Appending data sets</vt:lpstr>
      <vt:lpstr>Appending: adding observations</vt:lpstr>
      <vt:lpstr>append</vt:lpstr>
      <vt:lpstr>Unshared variables will have missing</vt:lpstr>
      <vt:lpstr>Merging data sets</vt:lpstr>
      <vt:lpstr>One-to-one merging</vt:lpstr>
      <vt:lpstr>merge 1:1 for one-to-one merging</vt:lpstr>
      <vt:lpstr>_merge: understanding the resulting merge</vt:lpstr>
      <vt:lpstr>Many-to-one merges</vt:lpstr>
      <vt:lpstr>One-to-many merges</vt:lpstr>
      <vt:lpstr>merge m:1 and  merge 1:m</vt:lpstr>
      <vt:lpstr>Looping</vt:lpstr>
      <vt:lpstr>Loops</vt:lpstr>
      <vt:lpstr>Loops</vt:lpstr>
      <vt:lpstr>Loops</vt:lpstr>
      <vt:lpstr>Loops</vt:lpstr>
      <vt:lpstr>Stata loops</vt:lpstr>
      <vt:lpstr>foreach: looping over variables</vt:lpstr>
      <vt:lpstr>Use forvalues to loop over numbers</vt:lpstr>
      <vt:lpstr>Processing data by group</vt:lpstr>
      <vt:lpstr>Grouped data</vt:lpstr>
      <vt:lpstr>The by prefix</vt:lpstr>
      <vt:lpstr>Data must be sorted before processing by group</vt:lpstr>
      <vt:lpstr>Generating statistics by group</vt:lpstr>
      <vt:lpstr>Longitudinal data (multiple rows per subject)</vt:lpstr>
      <vt:lpstr>Specifying the value of a variable from a particular observation</vt:lpstr>
      <vt:lpstr>System variables _n and _N</vt:lpstr>
      <vt:lpstr>Summing within group</vt:lpstr>
      <vt:lpstr>References and Further Learning</vt:lpstr>
      <vt:lpstr>References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stats</dc:creator>
  <cp:lastModifiedBy>Andy Lin</cp:lastModifiedBy>
  <cp:revision>243</cp:revision>
  <dcterms:created xsi:type="dcterms:W3CDTF">2017-05-08T02:46:06Z</dcterms:created>
  <dcterms:modified xsi:type="dcterms:W3CDTF">2022-02-22T19:36:00Z</dcterms:modified>
</cp:coreProperties>
</file>